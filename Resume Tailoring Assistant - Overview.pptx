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Applications by Status</a:t>
            </a:r>
          </a:p>
        </c:rich>
      </c:tx>
      <c:layout/>
      <c:overlay val="0"/>
    </c:title>
    <c:autoTitleDeleted val="0"/>
    <c:plotArea>
      <c:layout/>
      <c:pie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8892A4"/>
              </a:solidFill>
              <a:effectLst/>
            </c:spPr>
          </c:dPt>
          <c:dPt>
            <c:idx val="1"/>
            <c:bubble3D val="0"/>
            <c:spPr>
              <a:solidFill>
                <a:srgbClr val="CADCFC"/>
              </a:solidFill>
              <a:effectLst/>
            </c:spPr>
          </c:dPt>
          <c:dPt>
            <c:idx val="2"/>
            <c:bubble3D val="0"/>
            <c:spPr>
              <a:solidFill>
                <a:srgbClr val="22C55E"/>
              </a:solidFill>
              <a:effectLst/>
            </c:spPr>
          </c:dPt>
          <c:dPt>
            <c:idx val="3"/>
            <c:bubble3D val="0"/>
            <c:spPr>
              <a:solidFill>
                <a:srgbClr val="14B8A6"/>
              </a:solidFill>
              <a:effectLst/>
            </c:spPr>
          </c:dPt>
          <c:dPt>
            <c:idx val="4"/>
            <c:bubble3D val="0"/>
            <c:spPr>
              <a:solidFill>
                <a:srgbClr val="EAB308"/>
              </a:solidFill>
              <a:effectLst/>
            </c:spPr>
          </c:dPt>
          <c:dPt>
            <c:idx val="5"/>
            <c:bubble3D val="0"/>
            <c:spPr>
              <a:solidFill>
                <a:srgbClr val="FF6347"/>
              </a:solidFill>
              <a:effectLst/>
            </c:spPr>
          </c:dPt>
          <c:dPt>
            <c:idx val="6"/>
            <c:bubble3D val="0"/>
            <c:spPr>
              <a:solidFill>
                <a:srgbClr val="C0392B"/>
              </a:solidFill>
              <a:effectLst/>
            </c:spPr>
          </c:dPt>
          <c:dLbls>
            <c:dLbl>
              <c:idx val="0"/>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4"/>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5"/>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6"/>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Not Applied</c:v>
                </c:pt>
                <c:pt idx="1">
                  <c:v>Info Interview Req.</c:v>
                </c:pt>
                <c:pt idx="2">
                  <c:v>Applied</c:v>
                </c:pt>
                <c:pt idx="3">
                  <c:v>Interview</c:v>
                </c:pt>
                <c:pt idx="4">
                  <c:v>Withdrawn</c:v>
                </c:pt>
                <c:pt idx="5">
                  <c:v>1st Round</c:v>
                </c:pt>
                <c:pt idx="6">
                  <c:v>Rejected</c:v>
                </c:pt>
              </c:strCache>
            </c:strRef>
          </c:cat>
          <c:val>
            <c:numRef>
              <c:f>Sheet1!$B$2:$B$8</c:f>
              <c:numCache>
                <c:ptCount val="7"/>
                <c:pt idx="0">
                  <c:v>7</c:v>
                </c:pt>
                <c:pt idx="1">
                  <c:v>6</c:v>
                </c:pt>
                <c:pt idx="2">
                  <c:v>2</c:v>
                </c:pt>
                <c:pt idx="3">
                  <c:v>1</c:v>
                </c:pt>
                <c:pt idx="4">
                  <c:v>1</c:v>
                </c:pt>
                <c:pt idx="5">
                  <c:v>1</c:v>
                </c:pt>
                <c:pt idx="6">
                  <c:v>1</c:v>
                </c:pt>
              </c:numCache>
            </c:numRef>
          </c:val>
        </c:ser>
        <c:firstSliceAng val="0"/>
      </c:pieChart>
      <c:spPr>
        <a:noFill/>
        <a:ln>
          <a:noFill/>
        </a:ln>
        <a:effectLst/>
      </c:spPr>
    </c:plotArea>
    <c:legend>
      <c:legendPos val="r"/>
      <c:overlay val="0"/>
      <c:txPr>
        <a:bodyPr/>
        <a:lstStyle/>
        <a:p>
          <a:pPr>
            <a:defRPr sz="1100">
              <a:solidFill>
                <a:srgbClr val="FFFFFF"/>
              </a:solidFill>
            </a:defRPr>
          </a:pPr>
          <a:endParaRPr lang="en-US"/>
        </a:p>
      </c:txPr>
    </c:legend>
    <c:plotVisOnly val="1"/>
    <c:dispBlanksAs val="span"/>
  </c:chart>
  <c:spPr>
    <a:solidFill>
      <a:srgbClr val="151B4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B47"/>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51B47"/>
          </a:solidFill>
          <a:ln/>
        </p:spPr>
      </p:sp>
      <p:sp>
        <p:nvSpPr>
          <p:cNvPr id="3" name="Shape 1"/>
          <p:cNvSpPr/>
          <p:nvPr/>
        </p:nvSpPr>
        <p:spPr>
          <a:xfrm>
            <a:off x="9509760" y="-1463040"/>
            <a:ext cx="4572000" cy="4572000"/>
          </a:xfrm>
          <a:prstGeom prst="ellipse">
            <a:avLst/>
          </a:prstGeom>
          <a:solidFill>
            <a:srgbClr val="1E2761">
              <a:alpha val="70000"/>
            </a:srgbClr>
          </a:solidFill>
          <a:ln/>
        </p:spPr>
      </p:sp>
      <p:sp>
        <p:nvSpPr>
          <p:cNvPr id="4" name="Shape 2"/>
          <p:cNvSpPr/>
          <p:nvPr/>
        </p:nvSpPr>
        <p:spPr>
          <a:xfrm>
            <a:off x="10607040" y="4206240"/>
            <a:ext cx="2926080" cy="2926080"/>
          </a:xfrm>
          <a:prstGeom prst="ellipse">
            <a:avLst/>
          </a:prstGeom>
          <a:solidFill>
            <a:srgbClr val="44506B">
              <a:alpha val="60000"/>
            </a:srgbClr>
          </a:solidFill>
          <a:ln/>
        </p:spPr>
      </p:sp>
      <p:sp>
        <p:nvSpPr>
          <p:cNvPr id="5" name="Text 3"/>
          <p:cNvSpPr/>
          <p:nvPr/>
        </p:nvSpPr>
        <p:spPr>
          <a:xfrm>
            <a:off x="822960" y="2331720"/>
            <a:ext cx="8229600" cy="365760"/>
          </a:xfrm>
          <a:prstGeom prst="rect">
            <a:avLst/>
          </a:prstGeom>
          <a:noFill/>
          <a:ln/>
        </p:spPr>
        <p:txBody>
          <a:bodyPr wrap="square" lIns="0" tIns="0" rIns="0" bIns="0" rtlCol="0" anchor="ctr"/>
          <a:lstStyle/>
          <a:p>
            <a:pPr indent="0" marL="0">
              <a:buNone/>
            </a:pPr>
            <a:r>
              <a:rPr lang="en-US" sz="1400" b="1" spc="300" kern="0" dirty="0">
                <a:solidFill>
                  <a:srgbClr val="CADCFC"/>
                </a:solidFill>
              </a:rPr>
              <a:t>RESUME TAILORING PROJECT</a:t>
            </a:r>
            <a:endParaRPr lang="en-US" sz="1400" dirty="0"/>
          </a:p>
        </p:txBody>
      </p:sp>
      <p:sp>
        <p:nvSpPr>
          <p:cNvPr id="6" name="Text 4"/>
          <p:cNvSpPr/>
          <p:nvPr/>
        </p:nvSpPr>
        <p:spPr>
          <a:xfrm>
            <a:off x="777240" y="2697480"/>
            <a:ext cx="96012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Resume Tailoring Assistant</a:t>
            </a:r>
            <a:endParaRPr lang="en-US" sz="4800" dirty="0"/>
          </a:p>
        </p:txBody>
      </p:sp>
      <p:sp>
        <p:nvSpPr>
          <p:cNvPr id="7" name="Text 5"/>
          <p:cNvSpPr/>
          <p:nvPr/>
        </p:nvSpPr>
        <p:spPr>
          <a:xfrm>
            <a:off x="822960" y="3886200"/>
            <a:ext cx="868680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An automated, end-to-end pipeline that finds, scores, and tailors</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resumes for every job opportunity — and tracks the whole job search.</a:t>
            </a:r>
            <a:endParaRPr lang="en-US" sz="1600" dirty="0"/>
          </a:p>
        </p:txBody>
      </p:sp>
      <p:sp>
        <p:nvSpPr>
          <p:cNvPr id="8" name="Text 6"/>
          <p:cNvSpPr/>
          <p:nvPr/>
        </p:nvSpPr>
        <p:spPr>
          <a:xfrm>
            <a:off x="822960" y="6035040"/>
            <a:ext cx="7315200" cy="365760"/>
          </a:xfrm>
          <a:prstGeom prst="rect">
            <a:avLst/>
          </a:prstGeom>
          <a:noFill/>
          <a:ln/>
        </p:spPr>
        <p:txBody>
          <a:bodyPr wrap="square" lIns="0" tIns="0" rIns="0" bIns="0" rtlCol="0" anchor="ctr"/>
          <a:lstStyle/>
          <a:p>
            <a:pPr indent="0" marL="0">
              <a:buNone/>
            </a:pPr>
            <a:r>
              <a:rPr lang="en-US" sz="1200" dirty="0">
                <a:solidFill>
                  <a:srgbClr val="6B7694"/>
                </a:solidFill>
              </a:rPr>
              <a:t>Built on Claude by Lisa Martin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Job searching doesn't scale by hand</a:t>
            </a:r>
            <a:endParaRPr lang="en-US" sz="3200" dirty="0"/>
          </a:p>
        </p:txBody>
      </p:sp>
      <p:sp>
        <p:nvSpPr>
          <p:cNvPr id="4" name="Shape 2"/>
          <p:cNvSpPr/>
          <p:nvPr/>
        </p:nvSpPr>
        <p:spPr>
          <a:xfrm>
            <a:off x="548640" y="1874520"/>
            <a:ext cx="5120640" cy="2148840"/>
          </a:xfrm>
          <a:prstGeom prst="rect">
            <a:avLst/>
          </a:prstGeom>
          <a:solidFill>
            <a:srgbClr val="F4F6FB"/>
          </a:solidFill>
          <a:ln/>
        </p:spPr>
      </p:sp>
      <p:sp>
        <p:nvSpPr>
          <p:cNvPr id="5" name="Shape 3"/>
          <p:cNvSpPr/>
          <p:nvPr/>
        </p:nvSpPr>
        <p:spPr>
          <a:xfrm>
            <a:off x="822960" y="2148840"/>
            <a:ext cx="457200" cy="457200"/>
          </a:xfrm>
          <a:prstGeom prst="ellipse">
            <a:avLst/>
          </a:prstGeom>
          <a:solidFill>
            <a:srgbClr val="1E2761"/>
          </a:solidFill>
          <a:ln/>
        </p:spPr>
      </p:sp>
      <p:sp>
        <p:nvSpPr>
          <p:cNvPr id="6" name="Text 4"/>
          <p:cNvSpPr/>
          <p:nvPr/>
        </p:nvSpPr>
        <p:spPr>
          <a:xfrm>
            <a:off x="82296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1463040" y="2103120"/>
            <a:ext cx="3931920" cy="548640"/>
          </a:xfrm>
          <a:prstGeom prst="rect">
            <a:avLst/>
          </a:prstGeom>
          <a:noFill/>
          <a:ln/>
        </p:spPr>
        <p:txBody>
          <a:bodyPr wrap="square" lIns="0" tIns="0" rIns="0" bIns="0" rtlCol="0" anchor="ctr"/>
          <a:lstStyle/>
          <a:p>
            <a:pPr indent="0" marL="0">
              <a:buNone/>
            </a:pPr>
            <a:r>
              <a:rPr lang="en-US" sz="1600" b="1" dirty="0">
                <a:solidFill>
                  <a:srgbClr val="151B47"/>
                </a:solidFill>
                <a:latin typeface="Calibri" pitchFamily="34" charset="0"/>
                <a:ea typeface="Calibri" pitchFamily="34" charset="-122"/>
                <a:cs typeface="Calibri" pitchFamily="34" charset="-120"/>
              </a:rPr>
              <a:t>Every role needs its own resume</a:t>
            </a:r>
            <a:endParaRPr lang="en-US" sz="1600" dirty="0"/>
          </a:p>
        </p:txBody>
      </p:sp>
      <p:sp>
        <p:nvSpPr>
          <p:cNvPr id="8" name="Text 6"/>
          <p:cNvSpPr/>
          <p:nvPr/>
        </p:nvSpPr>
        <p:spPr>
          <a:xfrm>
            <a:off x="822960" y="2788920"/>
            <a:ext cx="4572000" cy="10515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Generic resumes get filtered out by ATS systems and recruiters before a human ever reads them.</a:t>
            </a:r>
            <a:endParaRPr lang="en-US" sz="1250" dirty="0"/>
          </a:p>
        </p:txBody>
      </p:sp>
      <p:sp>
        <p:nvSpPr>
          <p:cNvPr id="9" name="Shape 7"/>
          <p:cNvSpPr/>
          <p:nvPr/>
        </p:nvSpPr>
        <p:spPr>
          <a:xfrm>
            <a:off x="6126480" y="1874520"/>
            <a:ext cx="5120640" cy="2148840"/>
          </a:xfrm>
          <a:prstGeom prst="rect">
            <a:avLst/>
          </a:prstGeom>
          <a:solidFill>
            <a:srgbClr val="F4F6FB"/>
          </a:solidFill>
          <a:ln/>
        </p:spPr>
      </p:sp>
      <p:sp>
        <p:nvSpPr>
          <p:cNvPr id="10" name="Shape 8"/>
          <p:cNvSpPr/>
          <p:nvPr/>
        </p:nvSpPr>
        <p:spPr>
          <a:xfrm>
            <a:off x="6400800" y="2148840"/>
            <a:ext cx="457200" cy="457200"/>
          </a:xfrm>
          <a:prstGeom prst="ellipse">
            <a:avLst/>
          </a:prstGeom>
          <a:solidFill>
            <a:srgbClr val="1E2761"/>
          </a:solidFill>
          <a:ln/>
        </p:spPr>
      </p:sp>
      <p:sp>
        <p:nvSpPr>
          <p:cNvPr id="11" name="Text 9"/>
          <p:cNvSpPr/>
          <p:nvPr/>
        </p:nvSpPr>
        <p:spPr>
          <a:xfrm>
            <a:off x="640080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p:nvPr/>
        </p:nvSpPr>
        <p:spPr>
          <a:xfrm>
            <a:off x="7040880" y="2103120"/>
            <a:ext cx="3931920" cy="548640"/>
          </a:xfrm>
          <a:prstGeom prst="rect">
            <a:avLst/>
          </a:prstGeom>
          <a:noFill/>
          <a:ln/>
        </p:spPr>
        <p:txBody>
          <a:bodyPr wrap="square" lIns="0" tIns="0" rIns="0" bIns="0" rtlCol="0" anchor="ctr"/>
          <a:lstStyle/>
          <a:p>
            <a:pPr indent="0" marL="0">
              <a:buNone/>
            </a:pPr>
            <a:r>
              <a:rPr lang="en-US" sz="1600" b="1" dirty="0">
                <a:solidFill>
                  <a:srgbClr val="151B47"/>
                </a:solidFill>
                <a:latin typeface="Calibri" pitchFamily="34" charset="0"/>
                <a:ea typeface="Calibri" pitchFamily="34" charset="-122"/>
                <a:cs typeface="Calibri" pitchFamily="34" charset="-120"/>
              </a:rPr>
              <a:t>Tailoring is slow and repetitive</a:t>
            </a:r>
            <a:endParaRPr lang="en-US" sz="1600" dirty="0"/>
          </a:p>
        </p:txBody>
      </p:sp>
      <p:sp>
        <p:nvSpPr>
          <p:cNvPr id="13" name="Text 11"/>
          <p:cNvSpPr/>
          <p:nvPr/>
        </p:nvSpPr>
        <p:spPr>
          <a:xfrm>
            <a:off x="6400800" y="2788920"/>
            <a:ext cx="4572000" cy="10515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Rewriting bullets, reordering sections, and reformatting for each job eats hours per application.</a:t>
            </a:r>
            <a:endParaRPr lang="en-US" sz="1250" dirty="0"/>
          </a:p>
        </p:txBody>
      </p:sp>
      <p:sp>
        <p:nvSpPr>
          <p:cNvPr id="14" name="Shape 12"/>
          <p:cNvSpPr/>
          <p:nvPr/>
        </p:nvSpPr>
        <p:spPr>
          <a:xfrm>
            <a:off x="548640" y="4343400"/>
            <a:ext cx="5120640" cy="2148840"/>
          </a:xfrm>
          <a:prstGeom prst="rect">
            <a:avLst/>
          </a:prstGeom>
          <a:solidFill>
            <a:srgbClr val="F4F6FB"/>
          </a:solidFill>
          <a:ln/>
        </p:spPr>
      </p:sp>
      <p:sp>
        <p:nvSpPr>
          <p:cNvPr id="15" name="Shape 13"/>
          <p:cNvSpPr/>
          <p:nvPr/>
        </p:nvSpPr>
        <p:spPr>
          <a:xfrm>
            <a:off x="822960" y="4617720"/>
            <a:ext cx="457200" cy="457200"/>
          </a:xfrm>
          <a:prstGeom prst="ellipse">
            <a:avLst/>
          </a:prstGeom>
          <a:solidFill>
            <a:srgbClr val="1E2761"/>
          </a:solidFill>
          <a:ln/>
        </p:spPr>
      </p:sp>
      <p:sp>
        <p:nvSpPr>
          <p:cNvPr id="16" name="Text 14"/>
          <p:cNvSpPr/>
          <p:nvPr/>
        </p:nvSpPr>
        <p:spPr>
          <a:xfrm>
            <a:off x="82296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p:nvPr/>
        </p:nvSpPr>
        <p:spPr>
          <a:xfrm>
            <a:off x="1463040" y="4572000"/>
            <a:ext cx="3931920" cy="548640"/>
          </a:xfrm>
          <a:prstGeom prst="rect">
            <a:avLst/>
          </a:prstGeom>
          <a:noFill/>
          <a:ln/>
        </p:spPr>
        <p:txBody>
          <a:bodyPr wrap="square" lIns="0" tIns="0" rIns="0" bIns="0" rtlCol="0" anchor="ctr"/>
          <a:lstStyle/>
          <a:p>
            <a:pPr indent="0" marL="0">
              <a:buNone/>
            </a:pPr>
            <a:r>
              <a:rPr lang="en-US" sz="1600" b="1" dirty="0">
                <a:solidFill>
                  <a:srgbClr val="151B47"/>
                </a:solidFill>
                <a:latin typeface="Calibri" pitchFamily="34" charset="0"/>
                <a:ea typeface="Calibri" pitchFamily="34" charset="-122"/>
                <a:cs typeface="Calibri" pitchFamily="34" charset="-120"/>
              </a:rPr>
              <a:t>Formatting drifts over time</a:t>
            </a:r>
            <a:endParaRPr lang="en-US" sz="1600" dirty="0"/>
          </a:p>
        </p:txBody>
      </p:sp>
      <p:sp>
        <p:nvSpPr>
          <p:cNvPr id="18" name="Text 16"/>
          <p:cNvSpPr/>
          <p:nvPr/>
        </p:nvSpPr>
        <p:spPr>
          <a:xfrm>
            <a:off x="822960" y="5257800"/>
            <a:ext cx="4572000" cy="10515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Fonts, sizes, and spacing slip without a consistent set of rules applied every single time.</a:t>
            </a:r>
            <a:endParaRPr lang="en-US" sz="1250" dirty="0"/>
          </a:p>
        </p:txBody>
      </p:sp>
      <p:sp>
        <p:nvSpPr>
          <p:cNvPr id="19" name="Shape 17"/>
          <p:cNvSpPr/>
          <p:nvPr/>
        </p:nvSpPr>
        <p:spPr>
          <a:xfrm>
            <a:off x="6126480" y="4343400"/>
            <a:ext cx="5120640" cy="2148840"/>
          </a:xfrm>
          <a:prstGeom prst="rect">
            <a:avLst/>
          </a:prstGeom>
          <a:solidFill>
            <a:srgbClr val="F4F6FB"/>
          </a:solidFill>
          <a:ln/>
        </p:spPr>
      </p:sp>
      <p:sp>
        <p:nvSpPr>
          <p:cNvPr id="20" name="Shape 18"/>
          <p:cNvSpPr/>
          <p:nvPr/>
        </p:nvSpPr>
        <p:spPr>
          <a:xfrm>
            <a:off x="6400800" y="4617720"/>
            <a:ext cx="457200" cy="457200"/>
          </a:xfrm>
          <a:prstGeom prst="ellipse">
            <a:avLst/>
          </a:prstGeom>
          <a:solidFill>
            <a:srgbClr val="1E2761"/>
          </a:solidFill>
          <a:ln/>
        </p:spPr>
      </p:sp>
      <p:sp>
        <p:nvSpPr>
          <p:cNvPr id="21" name="Text 19"/>
          <p:cNvSpPr/>
          <p:nvPr/>
        </p:nvSpPr>
        <p:spPr>
          <a:xfrm>
            <a:off x="640080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p:nvPr/>
        </p:nvSpPr>
        <p:spPr>
          <a:xfrm>
            <a:off x="7040880" y="4572000"/>
            <a:ext cx="3931920" cy="548640"/>
          </a:xfrm>
          <a:prstGeom prst="rect">
            <a:avLst/>
          </a:prstGeom>
          <a:noFill/>
          <a:ln/>
        </p:spPr>
        <p:txBody>
          <a:bodyPr wrap="square" lIns="0" tIns="0" rIns="0" bIns="0" rtlCol="0" anchor="ctr"/>
          <a:lstStyle/>
          <a:p>
            <a:pPr indent="0" marL="0">
              <a:buNone/>
            </a:pPr>
            <a:r>
              <a:rPr lang="en-US" sz="1600" b="1" dirty="0">
                <a:solidFill>
                  <a:srgbClr val="151B47"/>
                </a:solidFill>
                <a:latin typeface="Calibri" pitchFamily="34" charset="0"/>
                <a:ea typeface="Calibri" pitchFamily="34" charset="-122"/>
                <a:cs typeface="Calibri" pitchFamily="34" charset="-120"/>
              </a:rPr>
              <a:t>Tracking gets messy fast</a:t>
            </a:r>
            <a:endParaRPr lang="en-US" sz="1600" dirty="0"/>
          </a:p>
        </p:txBody>
      </p:sp>
      <p:sp>
        <p:nvSpPr>
          <p:cNvPr id="23" name="Text 21"/>
          <p:cNvSpPr/>
          <p:nvPr/>
        </p:nvSpPr>
        <p:spPr>
          <a:xfrm>
            <a:off x="6400800" y="5257800"/>
            <a:ext cx="4572000" cy="10515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Across dozens of leads, it's hard to know what's been applied to, what's pending, and what's worth pursuing.</a:t>
            </a:r>
            <a:endParaRPr lang="en-US" sz="1250" dirty="0"/>
          </a:p>
        </p:txBody>
      </p:sp>
      <p:sp>
        <p:nvSpPr>
          <p:cNvPr id="24" name="Text 22"/>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One pipeline, two ways in</a:t>
            </a:r>
            <a:endParaRPr lang="en-US" sz="3200" dirty="0"/>
          </a:p>
        </p:txBody>
      </p:sp>
      <p:sp>
        <p:nvSpPr>
          <p:cNvPr id="4" name="Text 2"/>
          <p:cNvSpPr/>
          <p:nvPr/>
        </p:nvSpPr>
        <p:spPr>
          <a:xfrm>
            <a:off x="548640" y="1600200"/>
            <a:ext cx="11064240" cy="914400"/>
          </a:xfrm>
          <a:prstGeom prst="rect">
            <a:avLst/>
          </a:prstGeom>
          <a:noFill/>
          <a:ln/>
        </p:spPr>
        <p:txBody>
          <a:bodyPr wrap="square" lIns="0" tIns="0" rIns="0" bIns="0" rtlCol="0" anchor="ctr"/>
          <a:lstStyle/>
          <a:p>
            <a:pPr indent="0" marL="0">
              <a:buNone/>
            </a:pPr>
            <a:r>
              <a:rPr lang="en-US" sz="1500" dirty="0">
                <a:solidFill>
                  <a:srgbClr val="44506B"/>
                </a:solidFill>
                <a:latin typeface="Calibri" pitchFamily="34" charset="0"/>
                <a:ea typeface="Calibri" pitchFamily="34" charset="-122"/>
                <a:cs typeface="Calibri" pitchFamily="34" charset="-120"/>
              </a:rPr>
              <a:t>Share a job URL or paste a description any time — or connect Gmail and let the pipeline scan your inbox every morning automatically. Either way, every role is scored first across five dimensions. Only roles scoring 4.0 or higher run the full pipeline automatically; 3.0–3.9 pauses for Lisa's call; below 3.0, the pipeline stops entirely.</a:t>
            </a:r>
            <a:endParaRPr lang="en-US" sz="1500" dirty="0"/>
          </a:p>
        </p:txBody>
      </p:sp>
      <p:sp>
        <p:nvSpPr>
          <p:cNvPr id="5" name="Shape 3"/>
          <p:cNvSpPr/>
          <p:nvPr/>
        </p:nvSpPr>
        <p:spPr>
          <a:xfrm>
            <a:off x="768096" y="2788920"/>
            <a:ext cx="1993392" cy="1371600"/>
          </a:xfrm>
          <a:prstGeom prst="rect">
            <a:avLst/>
          </a:prstGeom>
          <a:solidFill>
            <a:srgbClr val="1E2761"/>
          </a:solidFill>
          <a:ln/>
        </p:spPr>
      </p:sp>
      <p:sp>
        <p:nvSpPr>
          <p:cNvPr id="6" name="Text 4"/>
          <p:cNvSpPr/>
          <p:nvPr/>
        </p:nvSpPr>
        <p:spPr>
          <a:xfrm>
            <a:off x="905256" y="2898648"/>
            <a:ext cx="548640" cy="365760"/>
          </a:xfrm>
          <a:prstGeom prst="rect">
            <a:avLst/>
          </a:prstGeom>
          <a:noFill/>
          <a:ln/>
        </p:spPr>
        <p:txBody>
          <a:bodyPr wrap="square" lIns="0" tIns="0" rIns="0" bIns="0" rtlCol="0" anchor="ctr"/>
          <a:lstStyle/>
          <a:p>
            <a:pPr indent="0" marL="0">
              <a:buNone/>
            </a:pPr>
            <a:r>
              <a:rPr lang="en-US" sz="1400" b="1" dirty="0">
                <a:solidFill>
                  <a:srgbClr val="CADCFC"/>
                </a:solidFill>
              </a:rPr>
              <a:t>1</a:t>
            </a:r>
            <a:endParaRPr lang="en-US" sz="1400" dirty="0"/>
          </a:p>
        </p:txBody>
      </p:sp>
      <p:sp>
        <p:nvSpPr>
          <p:cNvPr id="7" name="Text 5"/>
          <p:cNvSpPr/>
          <p:nvPr/>
        </p:nvSpPr>
        <p:spPr>
          <a:xfrm>
            <a:off x="905256" y="3291840"/>
            <a:ext cx="1719072"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Score the role</a:t>
            </a:r>
            <a:endParaRPr lang="en-US" sz="1400" dirty="0"/>
          </a:p>
        </p:txBody>
      </p:sp>
      <p:sp>
        <p:nvSpPr>
          <p:cNvPr id="8" name="Text 6"/>
          <p:cNvSpPr/>
          <p:nvPr/>
        </p:nvSpPr>
        <p:spPr>
          <a:xfrm>
            <a:off x="2761488" y="3200400"/>
            <a:ext cx="210312" cy="548640"/>
          </a:xfrm>
          <a:prstGeom prst="rect">
            <a:avLst/>
          </a:prstGeom>
          <a:noFill/>
          <a:ln/>
        </p:spPr>
        <p:txBody>
          <a:bodyPr wrap="square" lIns="0" tIns="0" rIns="0" bIns="0" rtlCol="0" anchor="ctr"/>
          <a:lstStyle/>
          <a:p>
            <a:pPr algn="ctr" indent="0" marL="0">
              <a:buNone/>
            </a:pPr>
            <a:r>
              <a:rPr lang="en-US" sz="1800" dirty="0">
                <a:solidFill>
                  <a:srgbClr val="6B7694"/>
                </a:solidFill>
              </a:rPr>
              <a:t>→</a:t>
            </a:r>
            <a:endParaRPr lang="en-US" sz="1800" dirty="0"/>
          </a:p>
        </p:txBody>
      </p:sp>
      <p:sp>
        <p:nvSpPr>
          <p:cNvPr id="9" name="Shape 7"/>
          <p:cNvSpPr/>
          <p:nvPr/>
        </p:nvSpPr>
        <p:spPr>
          <a:xfrm>
            <a:off x="2926080" y="2788920"/>
            <a:ext cx="1993392" cy="1371600"/>
          </a:xfrm>
          <a:prstGeom prst="rect">
            <a:avLst/>
          </a:prstGeom>
          <a:solidFill>
            <a:srgbClr val="44506B"/>
          </a:solidFill>
          <a:ln/>
        </p:spPr>
      </p:sp>
      <p:sp>
        <p:nvSpPr>
          <p:cNvPr id="10" name="Text 8"/>
          <p:cNvSpPr/>
          <p:nvPr/>
        </p:nvSpPr>
        <p:spPr>
          <a:xfrm>
            <a:off x="3063240" y="2898648"/>
            <a:ext cx="548640" cy="365760"/>
          </a:xfrm>
          <a:prstGeom prst="rect">
            <a:avLst/>
          </a:prstGeom>
          <a:noFill/>
          <a:ln/>
        </p:spPr>
        <p:txBody>
          <a:bodyPr wrap="square" lIns="0" tIns="0" rIns="0" bIns="0" rtlCol="0" anchor="ctr"/>
          <a:lstStyle/>
          <a:p>
            <a:pPr indent="0" marL="0">
              <a:buNone/>
            </a:pPr>
            <a:r>
              <a:rPr lang="en-US" sz="1400" b="1" dirty="0">
                <a:solidFill>
                  <a:srgbClr val="CADCFC"/>
                </a:solidFill>
              </a:rPr>
              <a:t>2</a:t>
            </a:r>
            <a:endParaRPr lang="en-US" sz="1400" dirty="0"/>
          </a:p>
        </p:txBody>
      </p:sp>
      <p:sp>
        <p:nvSpPr>
          <p:cNvPr id="11" name="Text 9"/>
          <p:cNvSpPr/>
          <p:nvPr/>
        </p:nvSpPr>
        <p:spPr>
          <a:xfrm>
            <a:off x="3063240" y="3291840"/>
            <a:ext cx="1719072"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Source the JD</a:t>
            </a:r>
            <a:endParaRPr lang="en-US" sz="1400" dirty="0"/>
          </a:p>
        </p:txBody>
      </p:sp>
      <p:sp>
        <p:nvSpPr>
          <p:cNvPr id="12" name="Text 10"/>
          <p:cNvSpPr/>
          <p:nvPr/>
        </p:nvSpPr>
        <p:spPr>
          <a:xfrm>
            <a:off x="4919472" y="3200400"/>
            <a:ext cx="210312" cy="548640"/>
          </a:xfrm>
          <a:prstGeom prst="rect">
            <a:avLst/>
          </a:prstGeom>
          <a:noFill/>
          <a:ln/>
        </p:spPr>
        <p:txBody>
          <a:bodyPr wrap="square" lIns="0" tIns="0" rIns="0" bIns="0" rtlCol="0" anchor="ctr"/>
          <a:lstStyle/>
          <a:p>
            <a:pPr algn="ctr" indent="0" marL="0">
              <a:buNone/>
            </a:pPr>
            <a:r>
              <a:rPr lang="en-US" sz="1800" dirty="0">
                <a:solidFill>
                  <a:srgbClr val="6B7694"/>
                </a:solidFill>
              </a:rPr>
              <a:t>→</a:t>
            </a:r>
            <a:endParaRPr lang="en-US" sz="1800" dirty="0"/>
          </a:p>
        </p:txBody>
      </p:sp>
      <p:sp>
        <p:nvSpPr>
          <p:cNvPr id="13" name="Shape 11"/>
          <p:cNvSpPr/>
          <p:nvPr/>
        </p:nvSpPr>
        <p:spPr>
          <a:xfrm>
            <a:off x="5084064" y="2788920"/>
            <a:ext cx="1993392" cy="1371600"/>
          </a:xfrm>
          <a:prstGeom prst="rect">
            <a:avLst/>
          </a:prstGeom>
          <a:solidFill>
            <a:srgbClr val="1E2761"/>
          </a:solidFill>
          <a:ln/>
        </p:spPr>
      </p:sp>
      <p:sp>
        <p:nvSpPr>
          <p:cNvPr id="14" name="Text 12"/>
          <p:cNvSpPr/>
          <p:nvPr/>
        </p:nvSpPr>
        <p:spPr>
          <a:xfrm>
            <a:off x="5221224" y="2898648"/>
            <a:ext cx="548640" cy="365760"/>
          </a:xfrm>
          <a:prstGeom prst="rect">
            <a:avLst/>
          </a:prstGeom>
          <a:noFill/>
          <a:ln/>
        </p:spPr>
        <p:txBody>
          <a:bodyPr wrap="square" lIns="0" tIns="0" rIns="0" bIns="0" rtlCol="0" anchor="ctr"/>
          <a:lstStyle/>
          <a:p>
            <a:pPr indent="0" marL="0">
              <a:buNone/>
            </a:pPr>
            <a:r>
              <a:rPr lang="en-US" sz="1400" b="1" dirty="0">
                <a:solidFill>
                  <a:srgbClr val="CADCFC"/>
                </a:solidFill>
              </a:rPr>
              <a:t>3</a:t>
            </a:r>
            <a:endParaRPr lang="en-US" sz="1400" dirty="0"/>
          </a:p>
        </p:txBody>
      </p:sp>
      <p:sp>
        <p:nvSpPr>
          <p:cNvPr id="15" name="Text 13"/>
          <p:cNvSpPr/>
          <p:nvPr/>
        </p:nvSpPr>
        <p:spPr>
          <a:xfrm>
            <a:off x="5221224" y="3291840"/>
            <a:ext cx="1719072"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Tailor the resume</a:t>
            </a:r>
            <a:endParaRPr lang="en-US" sz="1400" dirty="0"/>
          </a:p>
        </p:txBody>
      </p:sp>
      <p:sp>
        <p:nvSpPr>
          <p:cNvPr id="16" name="Text 14"/>
          <p:cNvSpPr/>
          <p:nvPr/>
        </p:nvSpPr>
        <p:spPr>
          <a:xfrm>
            <a:off x="7077456" y="3200400"/>
            <a:ext cx="210312" cy="548640"/>
          </a:xfrm>
          <a:prstGeom prst="rect">
            <a:avLst/>
          </a:prstGeom>
          <a:noFill/>
          <a:ln/>
        </p:spPr>
        <p:txBody>
          <a:bodyPr wrap="square" lIns="0" tIns="0" rIns="0" bIns="0" rtlCol="0" anchor="ctr"/>
          <a:lstStyle/>
          <a:p>
            <a:pPr algn="ctr" indent="0" marL="0">
              <a:buNone/>
            </a:pPr>
            <a:r>
              <a:rPr lang="en-US" sz="1800" dirty="0">
                <a:solidFill>
                  <a:srgbClr val="6B7694"/>
                </a:solidFill>
              </a:rPr>
              <a:t>→</a:t>
            </a:r>
            <a:endParaRPr lang="en-US" sz="1800" dirty="0"/>
          </a:p>
        </p:txBody>
      </p:sp>
      <p:sp>
        <p:nvSpPr>
          <p:cNvPr id="17" name="Shape 15"/>
          <p:cNvSpPr/>
          <p:nvPr/>
        </p:nvSpPr>
        <p:spPr>
          <a:xfrm>
            <a:off x="7242048" y="2788920"/>
            <a:ext cx="1993392" cy="1371600"/>
          </a:xfrm>
          <a:prstGeom prst="rect">
            <a:avLst/>
          </a:prstGeom>
          <a:solidFill>
            <a:srgbClr val="44506B"/>
          </a:solidFill>
          <a:ln/>
        </p:spPr>
      </p:sp>
      <p:sp>
        <p:nvSpPr>
          <p:cNvPr id="18" name="Text 16"/>
          <p:cNvSpPr/>
          <p:nvPr/>
        </p:nvSpPr>
        <p:spPr>
          <a:xfrm>
            <a:off x="7379208" y="2898648"/>
            <a:ext cx="548640" cy="365760"/>
          </a:xfrm>
          <a:prstGeom prst="rect">
            <a:avLst/>
          </a:prstGeom>
          <a:noFill/>
          <a:ln/>
        </p:spPr>
        <p:txBody>
          <a:bodyPr wrap="square" lIns="0" tIns="0" rIns="0" bIns="0" rtlCol="0" anchor="ctr"/>
          <a:lstStyle/>
          <a:p>
            <a:pPr indent="0" marL="0">
              <a:buNone/>
            </a:pPr>
            <a:r>
              <a:rPr lang="en-US" sz="1400" b="1" dirty="0">
                <a:solidFill>
                  <a:srgbClr val="CADCFC"/>
                </a:solidFill>
              </a:rPr>
              <a:t>4</a:t>
            </a:r>
            <a:endParaRPr lang="en-US" sz="1400" dirty="0"/>
          </a:p>
        </p:txBody>
      </p:sp>
      <p:sp>
        <p:nvSpPr>
          <p:cNvPr id="19" name="Text 17"/>
          <p:cNvSpPr/>
          <p:nvPr/>
        </p:nvSpPr>
        <p:spPr>
          <a:xfrm>
            <a:off x="7379208" y="3291840"/>
            <a:ext cx="1719072"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File &amp; track</a:t>
            </a:r>
            <a:endParaRPr lang="en-US" sz="1400" dirty="0"/>
          </a:p>
        </p:txBody>
      </p:sp>
      <p:sp>
        <p:nvSpPr>
          <p:cNvPr id="20" name="Text 18"/>
          <p:cNvSpPr/>
          <p:nvPr/>
        </p:nvSpPr>
        <p:spPr>
          <a:xfrm>
            <a:off x="9235440" y="3200400"/>
            <a:ext cx="210312" cy="548640"/>
          </a:xfrm>
          <a:prstGeom prst="rect">
            <a:avLst/>
          </a:prstGeom>
          <a:noFill/>
          <a:ln/>
        </p:spPr>
        <p:txBody>
          <a:bodyPr wrap="square" lIns="0" tIns="0" rIns="0" bIns="0" rtlCol="0" anchor="ctr"/>
          <a:lstStyle/>
          <a:p>
            <a:pPr algn="ctr" indent="0" marL="0">
              <a:buNone/>
            </a:pPr>
            <a:r>
              <a:rPr lang="en-US" sz="1800" dirty="0">
                <a:solidFill>
                  <a:srgbClr val="6B7694"/>
                </a:solidFill>
              </a:rPr>
              <a:t>→</a:t>
            </a:r>
            <a:endParaRPr lang="en-US" sz="1800" dirty="0"/>
          </a:p>
        </p:txBody>
      </p:sp>
      <p:sp>
        <p:nvSpPr>
          <p:cNvPr id="21" name="Shape 19"/>
          <p:cNvSpPr/>
          <p:nvPr/>
        </p:nvSpPr>
        <p:spPr>
          <a:xfrm>
            <a:off x="9400032" y="2788920"/>
            <a:ext cx="1993392" cy="1371600"/>
          </a:xfrm>
          <a:prstGeom prst="rect">
            <a:avLst/>
          </a:prstGeom>
          <a:solidFill>
            <a:srgbClr val="1E2761"/>
          </a:solidFill>
          <a:ln/>
        </p:spPr>
      </p:sp>
      <p:sp>
        <p:nvSpPr>
          <p:cNvPr id="22" name="Text 20"/>
          <p:cNvSpPr/>
          <p:nvPr/>
        </p:nvSpPr>
        <p:spPr>
          <a:xfrm>
            <a:off x="9537192" y="2898648"/>
            <a:ext cx="548640" cy="365760"/>
          </a:xfrm>
          <a:prstGeom prst="rect">
            <a:avLst/>
          </a:prstGeom>
          <a:noFill/>
          <a:ln/>
        </p:spPr>
        <p:txBody>
          <a:bodyPr wrap="square" lIns="0" tIns="0" rIns="0" bIns="0" rtlCol="0" anchor="ctr"/>
          <a:lstStyle/>
          <a:p>
            <a:pPr indent="0" marL="0">
              <a:buNone/>
            </a:pPr>
            <a:r>
              <a:rPr lang="en-US" sz="1400" b="1" dirty="0">
                <a:solidFill>
                  <a:srgbClr val="CADCFC"/>
                </a:solidFill>
              </a:rPr>
              <a:t>5</a:t>
            </a:r>
            <a:endParaRPr lang="en-US" sz="1400" dirty="0"/>
          </a:p>
        </p:txBody>
      </p:sp>
      <p:sp>
        <p:nvSpPr>
          <p:cNvPr id="23" name="Text 21"/>
          <p:cNvSpPr/>
          <p:nvPr/>
        </p:nvSpPr>
        <p:spPr>
          <a:xfrm>
            <a:off x="9537192" y="3291840"/>
            <a:ext cx="1719072"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Sync dashboards</a:t>
            </a:r>
            <a:endParaRPr lang="en-US" sz="1400" dirty="0"/>
          </a:p>
        </p:txBody>
      </p:sp>
      <p:sp>
        <p:nvSpPr>
          <p:cNvPr id="24" name="Text 22"/>
          <p:cNvSpPr/>
          <p:nvPr/>
        </p:nvSpPr>
        <p:spPr>
          <a:xfrm>
            <a:off x="548640" y="4663440"/>
            <a:ext cx="11064240" cy="457200"/>
          </a:xfrm>
          <a:prstGeom prst="rect">
            <a:avLst/>
          </a:prstGeom>
          <a:noFill/>
          <a:ln/>
        </p:spPr>
        <p:txBody>
          <a:bodyPr wrap="square" lIns="0" tIns="0" rIns="0" bIns="0" rtlCol="0" anchor="ctr"/>
          <a:lstStyle/>
          <a:p>
            <a:pPr indent="0" marL="0">
              <a:buNone/>
            </a:pPr>
            <a:r>
              <a:rPr lang="en-US" sz="1300" i="1" dirty="0">
                <a:solidFill>
                  <a:srgbClr val="6B7694"/>
                </a:solidFill>
                <a:latin typeface="Calibri" pitchFamily="34" charset="0"/>
                <a:ea typeface="Calibri" pitchFamily="34" charset="-122"/>
                <a:cs typeface="Calibri" pitchFamily="34" charset="-120"/>
              </a:rPr>
              <a:t>Score 4.0+ → runs automatically. Score 3.0–3.9 → pauses for your decision. Below 3.0 → stops. No resume work happens unless the role earns it.</a:t>
            </a:r>
            <a:endParaRPr lang="en-US" sz="1300" dirty="0"/>
          </a:p>
        </p:txBody>
      </p:sp>
      <p:sp>
        <p:nvSpPr>
          <p:cNvPr id="25" name="Text 23"/>
          <p:cNvSpPr/>
          <p:nvPr/>
        </p:nvSpPr>
        <p:spPr>
          <a:xfrm>
            <a:off x="822960" y="5349240"/>
            <a:ext cx="109728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2</a:t>
            </a:r>
            <a:endParaRPr lang="en-US" sz="3400" dirty="0"/>
          </a:p>
        </p:txBody>
      </p:sp>
      <p:sp>
        <p:nvSpPr>
          <p:cNvPr id="26" name="Text 24"/>
          <p:cNvSpPr/>
          <p:nvPr/>
        </p:nvSpPr>
        <p:spPr>
          <a:xfrm>
            <a:off x="1874520" y="5532120"/>
            <a:ext cx="24688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ways to trigger it</a:t>
            </a:r>
            <a:endParaRPr lang="en-US" sz="1250" dirty="0"/>
          </a:p>
        </p:txBody>
      </p:sp>
      <p:sp>
        <p:nvSpPr>
          <p:cNvPr id="27" name="Text 25"/>
          <p:cNvSpPr/>
          <p:nvPr/>
        </p:nvSpPr>
        <p:spPr>
          <a:xfrm>
            <a:off x="4480560" y="5349240"/>
            <a:ext cx="109728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7</a:t>
            </a:r>
            <a:endParaRPr lang="en-US" sz="3400" dirty="0"/>
          </a:p>
        </p:txBody>
      </p:sp>
      <p:sp>
        <p:nvSpPr>
          <p:cNvPr id="28" name="Text 26"/>
          <p:cNvSpPr/>
          <p:nvPr/>
        </p:nvSpPr>
        <p:spPr>
          <a:xfrm>
            <a:off x="5532120" y="5532120"/>
            <a:ext cx="24688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automated steps</a:t>
            </a:r>
            <a:endParaRPr lang="en-US" sz="1250" dirty="0"/>
          </a:p>
        </p:txBody>
      </p:sp>
      <p:sp>
        <p:nvSpPr>
          <p:cNvPr id="29" name="Text 27"/>
          <p:cNvSpPr/>
          <p:nvPr/>
        </p:nvSpPr>
        <p:spPr>
          <a:xfrm>
            <a:off x="8138160" y="5349240"/>
            <a:ext cx="109728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0</a:t>
            </a:r>
            <a:endParaRPr lang="en-US" sz="3400" dirty="0"/>
          </a:p>
        </p:txBody>
      </p:sp>
      <p:sp>
        <p:nvSpPr>
          <p:cNvPr id="30" name="Text 28"/>
          <p:cNvSpPr/>
          <p:nvPr/>
        </p:nvSpPr>
        <p:spPr>
          <a:xfrm>
            <a:off x="9189720" y="5532120"/>
            <a:ext cx="24688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manual reformatting</a:t>
            </a:r>
            <a:endParaRPr lang="en-US" sz="1250" dirty="0"/>
          </a:p>
        </p:txBody>
      </p:sp>
      <p:sp>
        <p:nvSpPr>
          <p:cNvPr id="31" name="Text 29"/>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PIPELINE WALKTHROUGH</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What happens after a job lead comes in</a:t>
            </a:r>
            <a:endParaRPr lang="en-US" sz="3200" dirty="0"/>
          </a:p>
        </p:txBody>
      </p:sp>
      <p:sp>
        <p:nvSpPr>
          <p:cNvPr id="4" name="Shape 2"/>
          <p:cNvSpPr/>
          <p:nvPr/>
        </p:nvSpPr>
        <p:spPr>
          <a:xfrm>
            <a:off x="502920" y="1691640"/>
            <a:ext cx="2642616" cy="1965960"/>
          </a:xfrm>
          <a:prstGeom prst="rect">
            <a:avLst/>
          </a:prstGeom>
          <a:solidFill>
            <a:srgbClr val="F4F6FB"/>
          </a:solidFill>
          <a:ln/>
        </p:spPr>
      </p:sp>
      <p:sp>
        <p:nvSpPr>
          <p:cNvPr id="5" name="Shape 3"/>
          <p:cNvSpPr/>
          <p:nvPr/>
        </p:nvSpPr>
        <p:spPr>
          <a:xfrm>
            <a:off x="502920" y="1691640"/>
            <a:ext cx="73152" cy="1965960"/>
          </a:xfrm>
          <a:prstGeom prst="rect">
            <a:avLst/>
          </a:prstGeom>
          <a:solidFill>
            <a:srgbClr val="1E2761"/>
          </a:solidFill>
          <a:ln/>
        </p:spPr>
      </p:sp>
      <p:sp>
        <p:nvSpPr>
          <p:cNvPr id="6" name="Text 4"/>
          <p:cNvSpPr/>
          <p:nvPr/>
        </p:nvSpPr>
        <p:spPr>
          <a:xfrm>
            <a:off x="731520" y="185623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1</a:t>
            </a:r>
            <a:endParaRPr lang="en-US" sz="950" dirty="0"/>
          </a:p>
        </p:txBody>
      </p:sp>
      <p:sp>
        <p:nvSpPr>
          <p:cNvPr id="7" name="Text 5"/>
          <p:cNvSpPr/>
          <p:nvPr/>
        </p:nvSpPr>
        <p:spPr>
          <a:xfrm>
            <a:off x="731520" y="213055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Get the real JD</a:t>
            </a:r>
            <a:endParaRPr lang="en-US" sz="1300" dirty="0"/>
          </a:p>
        </p:txBody>
      </p:sp>
      <p:sp>
        <p:nvSpPr>
          <p:cNvPr id="8" name="Text 6"/>
          <p:cNvSpPr/>
          <p:nvPr/>
        </p:nvSpPr>
        <p:spPr>
          <a:xfrm>
            <a:off x="731520" y="267919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If the lead is a LinkedIn/job-board link, find the same posting on the company's own careers page — not the aggregator.</a:t>
            </a:r>
            <a:endParaRPr lang="en-US" sz="970" dirty="0"/>
          </a:p>
        </p:txBody>
      </p:sp>
      <p:sp>
        <p:nvSpPr>
          <p:cNvPr id="9" name="Shape 7"/>
          <p:cNvSpPr/>
          <p:nvPr/>
        </p:nvSpPr>
        <p:spPr>
          <a:xfrm>
            <a:off x="3310128" y="1691640"/>
            <a:ext cx="2642616" cy="1965960"/>
          </a:xfrm>
          <a:prstGeom prst="rect">
            <a:avLst/>
          </a:prstGeom>
          <a:solidFill>
            <a:srgbClr val="F4F6FB"/>
          </a:solidFill>
          <a:ln/>
        </p:spPr>
      </p:sp>
      <p:sp>
        <p:nvSpPr>
          <p:cNvPr id="10" name="Shape 8"/>
          <p:cNvSpPr/>
          <p:nvPr/>
        </p:nvSpPr>
        <p:spPr>
          <a:xfrm>
            <a:off x="3310128" y="1691640"/>
            <a:ext cx="73152" cy="1965960"/>
          </a:xfrm>
          <a:prstGeom prst="rect">
            <a:avLst/>
          </a:prstGeom>
          <a:solidFill>
            <a:srgbClr val="1E2761"/>
          </a:solidFill>
          <a:ln/>
        </p:spPr>
      </p:sp>
      <p:sp>
        <p:nvSpPr>
          <p:cNvPr id="11" name="Text 9"/>
          <p:cNvSpPr/>
          <p:nvPr/>
        </p:nvSpPr>
        <p:spPr>
          <a:xfrm>
            <a:off x="3538728" y="185623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2</a:t>
            </a:r>
            <a:endParaRPr lang="en-US" sz="950" dirty="0"/>
          </a:p>
        </p:txBody>
      </p:sp>
      <p:sp>
        <p:nvSpPr>
          <p:cNvPr id="12" name="Text 10"/>
          <p:cNvSpPr/>
          <p:nvPr/>
        </p:nvSpPr>
        <p:spPr>
          <a:xfrm>
            <a:off x="3538728" y="213055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Create the folder</a:t>
            </a:r>
            <a:endParaRPr lang="en-US" sz="1300" dirty="0"/>
          </a:p>
        </p:txBody>
      </p:sp>
      <p:sp>
        <p:nvSpPr>
          <p:cNvPr id="13" name="Text 11"/>
          <p:cNvSpPr/>
          <p:nvPr/>
        </p:nvSpPr>
        <p:spPr>
          <a:xfrm>
            <a:off x="3538728" y="267919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A dedicated Company → Role folder is created automatically to hold everything for that application.</a:t>
            </a:r>
            <a:endParaRPr lang="en-US" sz="970" dirty="0"/>
          </a:p>
        </p:txBody>
      </p:sp>
      <p:sp>
        <p:nvSpPr>
          <p:cNvPr id="14" name="Shape 12"/>
          <p:cNvSpPr/>
          <p:nvPr/>
        </p:nvSpPr>
        <p:spPr>
          <a:xfrm>
            <a:off x="6117336" y="1691640"/>
            <a:ext cx="2642616" cy="1965960"/>
          </a:xfrm>
          <a:prstGeom prst="rect">
            <a:avLst/>
          </a:prstGeom>
          <a:solidFill>
            <a:srgbClr val="F4F6FB"/>
          </a:solidFill>
          <a:ln/>
        </p:spPr>
      </p:sp>
      <p:sp>
        <p:nvSpPr>
          <p:cNvPr id="15" name="Shape 13"/>
          <p:cNvSpPr/>
          <p:nvPr/>
        </p:nvSpPr>
        <p:spPr>
          <a:xfrm>
            <a:off x="6117336" y="1691640"/>
            <a:ext cx="73152" cy="1965960"/>
          </a:xfrm>
          <a:prstGeom prst="rect">
            <a:avLst/>
          </a:prstGeom>
          <a:solidFill>
            <a:srgbClr val="1E2761"/>
          </a:solidFill>
          <a:ln/>
        </p:spPr>
      </p:sp>
      <p:sp>
        <p:nvSpPr>
          <p:cNvPr id="16" name="Text 14"/>
          <p:cNvSpPr/>
          <p:nvPr/>
        </p:nvSpPr>
        <p:spPr>
          <a:xfrm>
            <a:off x="6345936" y="185623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3</a:t>
            </a:r>
            <a:endParaRPr lang="en-US" sz="950" dirty="0"/>
          </a:p>
        </p:txBody>
      </p:sp>
      <p:sp>
        <p:nvSpPr>
          <p:cNvPr id="17" name="Text 15"/>
          <p:cNvSpPr/>
          <p:nvPr/>
        </p:nvSpPr>
        <p:spPr>
          <a:xfrm>
            <a:off x="6345936" y="213055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Save the JD as PDF</a:t>
            </a:r>
            <a:endParaRPr lang="en-US" sz="1300" dirty="0"/>
          </a:p>
        </p:txBody>
      </p:sp>
      <p:sp>
        <p:nvSpPr>
          <p:cNvPr id="18" name="Text 16"/>
          <p:cNvSpPr/>
          <p:nvPr/>
        </p:nvSpPr>
        <p:spPr>
          <a:xfrm>
            <a:off x="6345936" y="267919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The full job description is saved as a PDF inside that folder for reference.</a:t>
            </a:r>
            <a:endParaRPr lang="en-US" sz="970" dirty="0"/>
          </a:p>
        </p:txBody>
      </p:sp>
      <p:sp>
        <p:nvSpPr>
          <p:cNvPr id="19" name="Shape 17"/>
          <p:cNvSpPr/>
          <p:nvPr/>
        </p:nvSpPr>
        <p:spPr>
          <a:xfrm>
            <a:off x="8924544" y="1691640"/>
            <a:ext cx="2642616" cy="1965960"/>
          </a:xfrm>
          <a:prstGeom prst="rect">
            <a:avLst/>
          </a:prstGeom>
          <a:solidFill>
            <a:srgbClr val="F4F6FB"/>
          </a:solidFill>
          <a:ln/>
        </p:spPr>
      </p:sp>
      <p:sp>
        <p:nvSpPr>
          <p:cNvPr id="20" name="Shape 18"/>
          <p:cNvSpPr/>
          <p:nvPr/>
        </p:nvSpPr>
        <p:spPr>
          <a:xfrm>
            <a:off x="8924544" y="1691640"/>
            <a:ext cx="73152" cy="1965960"/>
          </a:xfrm>
          <a:prstGeom prst="rect">
            <a:avLst/>
          </a:prstGeom>
          <a:solidFill>
            <a:srgbClr val="1E2761"/>
          </a:solidFill>
          <a:ln/>
        </p:spPr>
      </p:sp>
      <p:sp>
        <p:nvSpPr>
          <p:cNvPr id="21" name="Text 19"/>
          <p:cNvSpPr/>
          <p:nvPr/>
        </p:nvSpPr>
        <p:spPr>
          <a:xfrm>
            <a:off x="9153144" y="185623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4</a:t>
            </a:r>
            <a:endParaRPr lang="en-US" sz="950" dirty="0"/>
          </a:p>
        </p:txBody>
      </p:sp>
      <p:sp>
        <p:nvSpPr>
          <p:cNvPr id="22" name="Text 20"/>
          <p:cNvSpPr/>
          <p:nvPr/>
        </p:nvSpPr>
        <p:spPr>
          <a:xfrm>
            <a:off x="9153144" y="213055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Tailor the resume</a:t>
            </a:r>
            <a:endParaRPr lang="en-US" sz="1300" dirty="0"/>
          </a:p>
        </p:txBody>
      </p:sp>
      <p:sp>
        <p:nvSpPr>
          <p:cNvPr id="23" name="Text 21"/>
          <p:cNvSpPr/>
          <p:nvPr/>
        </p:nvSpPr>
        <p:spPr>
          <a:xfrm>
            <a:off x="9153144" y="267919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Top keywords and priorities are pulled from the JD; bullets are reordered and rewritten in Lisa's voice — nothing invented.</a:t>
            </a:r>
            <a:endParaRPr lang="en-US" sz="970" dirty="0"/>
          </a:p>
        </p:txBody>
      </p:sp>
      <p:sp>
        <p:nvSpPr>
          <p:cNvPr id="24" name="Shape 22"/>
          <p:cNvSpPr/>
          <p:nvPr/>
        </p:nvSpPr>
        <p:spPr>
          <a:xfrm>
            <a:off x="1906524" y="3886200"/>
            <a:ext cx="2642616" cy="1965960"/>
          </a:xfrm>
          <a:prstGeom prst="rect">
            <a:avLst/>
          </a:prstGeom>
          <a:solidFill>
            <a:srgbClr val="F4F6FB"/>
          </a:solidFill>
          <a:ln/>
        </p:spPr>
      </p:sp>
      <p:sp>
        <p:nvSpPr>
          <p:cNvPr id="25" name="Shape 23"/>
          <p:cNvSpPr/>
          <p:nvPr/>
        </p:nvSpPr>
        <p:spPr>
          <a:xfrm>
            <a:off x="1906524" y="3886200"/>
            <a:ext cx="73152" cy="1965960"/>
          </a:xfrm>
          <a:prstGeom prst="rect">
            <a:avLst/>
          </a:prstGeom>
          <a:solidFill>
            <a:srgbClr val="1E2761"/>
          </a:solidFill>
          <a:ln/>
        </p:spPr>
      </p:sp>
      <p:sp>
        <p:nvSpPr>
          <p:cNvPr id="26" name="Text 24"/>
          <p:cNvSpPr/>
          <p:nvPr/>
        </p:nvSpPr>
        <p:spPr>
          <a:xfrm>
            <a:off x="2135124" y="405079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5</a:t>
            </a:r>
            <a:endParaRPr lang="en-US" sz="950" dirty="0"/>
          </a:p>
        </p:txBody>
      </p:sp>
      <p:sp>
        <p:nvSpPr>
          <p:cNvPr id="27" name="Text 25"/>
          <p:cNvSpPr/>
          <p:nvPr/>
        </p:nvSpPr>
        <p:spPr>
          <a:xfrm>
            <a:off x="2135124" y="432511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Draft the companion doc</a:t>
            </a:r>
            <a:endParaRPr lang="en-US" sz="1300" dirty="0"/>
          </a:p>
        </p:txBody>
      </p:sp>
      <p:sp>
        <p:nvSpPr>
          <p:cNvPr id="28" name="Text 26"/>
          <p:cNvSpPr/>
          <p:nvPr/>
        </p:nvSpPr>
        <p:spPr>
          <a:xfrm>
            <a:off x="2135124" y="487375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A tailored cover letter (external roles) or a short introductory email (internal roles) is generated automatically — no separate request needed.</a:t>
            </a:r>
            <a:endParaRPr lang="en-US" sz="970" dirty="0"/>
          </a:p>
        </p:txBody>
      </p:sp>
      <p:sp>
        <p:nvSpPr>
          <p:cNvPr id="29" name="Shape 27"/>
          <p:cNvSpPr/>
          <p:nvPr/>
        </p:nvSpPr>
        <p:spPr>
          <a:xfrm>
            <a:off x="4713732" y="3886200"/>
            <a:ext cx="2642616" cy="1965960"/>
          </a:xfrm>
          <a:prstGeom prst="rect">
            <a:avLst/>
          </a:prstGeom>
          <a:solidFill>
            <a:srgbClr val="F4F6FB"/>
          </a:solidFill>
          <a:ln/>
        </p:spPr>
      </p:sp>
      <p:sp>
        <p:nvSpPr>
          <p:cNvPr id="30" name="Shape 28"/>
          <p:cNvSpPr/>
          <p:nvPr/>
        </p:nvSpPr>
        <p:spPr>
          <a:xfrm>
            <a:off x="4713732" y="3886200"/>
            <a:ext cx="73152" cy="1965960"/>
          </a:xfrm>
          <a:prstGeom prst="rect">
            <a:avLst/>
          </a:prstGeom>
          <a:solidFill>
            <a:srgbClr val="1E2761"/>
          </a:solidFill>
          <a:ln/>
        </p:spPr>
      </p:sp>
      <p:sp>
        <p:nvSpPr>
          <p:cNvPr id="31" name="Text 29"/>
          <p:cNvSpPr/>
          <p:nvPr/>
        </p:nvSpPr>
        <p:spPr>
          <a:xfrm>
            <a:off x="4942332" y="405079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6</a:t>
            </a:r>
            <a:endParaRPr lang="en-US" sz="950" dirty="0"/>
          </a:p>
        </p:txBody>
      </p:sp>
      <p:sp>
        <p:nvSpPr>
          <p:cNvPr id="32" name="Text 30"/>
          <p:cNvSpPr/>
          <p:nvPr/>
        </p:nvSpPr>
        <p:spPr>
          <a:xfrm>
            <a:off x="4942332" y="432511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Update the tracker</a:t>
            </a:r>
            <a:endParaRPr lang="en-US" sz="1300" dirty="0"/>
          </a:p>
        </p:txBody>
      </p:sp>
      <p:sp>
        <p:nvSpPr>
          <p:cNvPr id="33" name="Text 31"/>
          <p:cNvSpPr/>
          <p:nvPr/>
        </p:nvSpPr>
        <p:spPr>
          <a:xfrm>
            <a:off x="4942332" y="487375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The role, status, resume file, and source are logged in the Job Applications Tracker.</a:t>
            </a:r>
            <a:endParaRPr lang="en-US" sz="970" dirty="0"/>
          </a:p>
        </p:txBody>
      </p:sp>
      <p:sp>
        <p:nvSpPr>
          <p:cNvPr id="34" name="Shape 32"/>
          <p:cNvSpPr/>
          <p:nvPr/>
        </p:nvSpPr>
        <p:spPr>
          <a:xfrm>
            <a:off x="7520940" y="3886200"/>
            <a:ext cx="2642616" cy="1965960"/>
          </a:xfrm>
          <a:prstGeom prst="rect">
            <a:avLst/>
          </a:prstGeom>
          <a:solidFill>
            <a:srgbClr val="F4F6FB"/>
          </a:solidFill>
          <a:ln/>
        </p:spPr>
      </p:sp>
      <p:sp>
        <p:nvSpPr>
          <p:cNvPr id="35" name="Shape 33"/>
          <p:cNvSpPr/>
          <p:nvPr/>
        </p:nvSpPr>
        <p:spPr>
          <a:xfrm>
            <a:off x="7520940" y="3886200"/>
            <a:ext cx="73152" cy="1965960"/>
          </a:xfrm>
          <a:prstGeom prst="rect">
            <a:avLst/>
          </a:prstGeom>
          <a:solidFill>
            <a:srgbClr val="1E2761"/>
          </a:solidFill>
          <a:ln/>
        </p:spPr>
      </p:sp>
      <p:sp>
        <p:nvSpPr>
          <p:cNvPr id="36" name="Text 34"/>
          <p:cNvSpPr/>
          <p:nvPr/>
        </p:nvSpPr>
        <p:spPr>
          <a:xfrm>
            <a:off x="7749540" y="4050792"/>
            <a:ext cx="2276856" cy="274320"/>
          </a:xfrm>
          <a:prstGeom prst="rect">
            <a:avLst/>
          </a:prstGeom>
          <a:noFill/>
          <a:ln/>
        </p:spPr>
        <p:txBody>
          <a:bodyPr wrap="square" lIns="0" tIns="0" rIns="0" bIns="0" rtlCol="0" anchor="ctr"/>
          <a:lstStyle/>
          <a:p>
            <a:pPr indent="0" marL="0">
              <a:buNone/>
            </a:pPr>
            <a:r>
              <a:rPr lang="en-US" sz="950" b="1" spc="120" kern="0" dirty="0">
                <a:solidFill>
                  <a:srgbClr val="C77B12"/>
                </a:solidFill>
              </a:rPr>
              <a:t>STEP 7</a:t>
            </a:r>
            <a:endParaRPr lang="en-US" sz="950" dirty="0"/>
          </a:p>
        </p:txBody>
      </p:sp>
      <p:sp>
        <p:nvSpPr>
          <p:cNvPr id="37" name="Text 35"/>
          <p:cNvSpPr/>
          <p:nvPr/>
        </p:nvSpPr>
        <p:spPr>
          <a:xfrm>
            <a:off x="7749540" y="4325112"/>
            <a:ext cx="2276856" cy="502920"/>
          </a:xfrm>
          <a:prstGeom prst="rect">
            <a:avLst/>
          </a:prstGeom>
          <a:noFill/>
          <a:ln/>
        </p:spPr>
        <p:txBody>
          <a:bodyPr wrap="square" lIns="0" tIns="0" rIns="0" bIns="0" rtlCol="0" anchor="t"/>
          <a:lstStyle/>
          <a:p>
            <a:pPr indent="0" marL="0">
              <a:buNone/>
            </a:pPr>
            <a:r>
              <a:rPr lang="en-US" sz="1300" b="1" dirty="0">
                <a:solidFill>
                  <a:srgbClr val="151B47"/>
                </a:solidFill>
                <a:latin typeface="Calibri" pitchFamily="34" charset="0"/>
                <a:ea typeface="Calibri" pitchFamily="34" charset="-122"/>
                <a:cs typeface="Calibri" pitchFamily="34" charset="-120"/>
              </a:rPr>
              <a:t>Sync the dashboards</a:t>
            </a:r>
            <a:endParaRPr lang="en-US" sz="1300" dirty="0"/>
          </a:p>
        </p:txBody>
      </p:sp>
      <p:sp>
        <p:nvSpPr>
          <p:cNvPr id="38" name="Text 36"/>
          <p:cNvSpPr/>
          <p:nvPr/>
        </p:nvSpPr>
        <p:spPr>
          <a:xfrm>
            <a:off x="7749540" y="4873752"/>
            <a:ext cx="2276856" cy="822960"/>
          </a:xfrm>
          <a:prstGeom prst="rect">
            <a:avLst/>
          </a:prstGeom>
          <a:noFill/>
          <a:ln/>
        </p:spPr>
        <p:txBody>
          <a:bodyPr wrap="square" lIns="0" tIns="0" rIns="0" bIns="0" rtlCol="0" anchor="t"/>
          <a:lstStyle/>
          <a:p>
            <a:pPr indent="0" marL="0">
              <a:buNone/>
            </a:pPr>
            <a:r>
              <a:rPr lang="en-US" sz="970" dirty="0">
                <a:solidFill>
                  <a:srgbClr val="44506B"/>
                </a:solidFill>
                <a:latin typeface="Calibri" pitchFamily="34" charset="0"/>
                <a:ea typeface="Calibri" pitchFamily="34" charset="-122"/>
                <a:cs typeface="Calibri" pitchFamily="34" charset="-120"/>
              </a:rPr>
              <a:t>The Job Match Analysis board is updated so it never shows stale or missing roles.</a:t>
            </a:r>
            <a:endParaRPr lang="en-US" sz="970" dirty="0"/>
          </a:p>
        </p:txBody>
      </p:sp>
      <p:sp>
        <p:nvSpPr>
          <p:cNvPr id="39" name="Text 37"/>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SMART JOB SCORING</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Not every lead is worth pursuing</a:t>
            </a:r>
            <a:endParaRPr lang="en-US" sz="3200" dirty="0"/>
          </a:p>
        </p:txBody>
      </p:sp>
      <p:sp>
        <p:nvSpPr>
          <p:cNvPr id="4" name="Text 2"/>
          <p:cNvSpPr/>
          <p:nvPr/>
        </p:nvSpPr>
        <p:spPr>
          <a:xfrm>
            <a:off x="548640" y="1600200"/>
            <a:ext cx="5760720" cy="822960"/>
          </a:xfrm>
          <a:prstGeom prst="rect">
            <a:avLst/>
          </a:prstGeom>
          <a:noFill/>
          <a:ln/>
        </p:spPr>
        <p:txBody>
          <a:bodyPr wrap="square" lIns="0" tIns="0" rIns="0" bIns="0" rtlCol="0" anchor="ctr"/>
          <a:lstStyle/>
          <a:p>
            <a:pPr indent="0" marL="0">
              <a:buNone/>
            </a:pPr>
            <a:r>
              <a:rPr lang="en-US" sz="1450" dirty="0">
                <a:solidFill>
                  <a:srgbClr val="44506B"/>
                </a:solidFill>
                <a:latin typeface="Calibri" pitchFamily="34" charset="0"/>
                <a:ea typeface="Calibri" pitchFamily="34" charset="-122"/>
                <a:cs typeface="Calibri" pitchFamily="34" charset="-120"/>
              </a:rPr>
              <a:t>Every role is scored 1–5 across five dimensions before any resume work begins, so effort goes only where it's likely to pay off.</a:t>
            </a:r>
            <a:endParaRPr lang="en-US" sz="1450" dirty="0"/>
          </a:p>
        </p:txBody>
      </p:sp>
      <p:sp>
        <p:nvSpPr>
          <p:cNvPr id="5" name="Shape 3"/>
          <p:cNvSpPr/>
          <p:nvPr/>
        </p:nvSpPr>
        <p:spPr>
          <a:xfrm>
            <a:off x="548640" y="2514600"/>
            <a:ext cx="201168" cy="201168"/>
          </a:xfrm>
          <a:prstGeom prst="ellipse">
            <a:avLst/>
          </a:prstGeom>
          <a:solidFill>
            <a:srgbClr val="1E2761"/>
          </a:solidFill>
          <a:ln/>
        </p:spPr>
      </p:sp>
      <p:sp>
        <p:nvSpPr>
          <p:cNvPr id="6" name="Text 4"/>
          <p:cNvSpPr/>
          <p:nvPr/>
        </p:nvSpPr>
        <p:spPr>
          <a:xfrm>
            <a:off x="868680" y="2395728"/>
            <a:ext cx="5029200" cy="457200"/>
          </a:xfrm>
          <a:prstGeom prst="rect">
            <a:avLst/>
          </a:prstGeom>
          <a:noFill/>
          <a:ln/>
        </p:spPr>
        <p:txBody>
          <a:bodyPr wrap="square" lIns="0" tIns="0" rIns="0" bIns="0" rtlCol="0" anchor="ctr"/>
          <a:lstStyle/>
          <a:p>
            <a:pPr indent="0" marL="0">
              <a:buNone/>
            </a:pPr>
            <a:r>
              <a:rPr lang="en-US" sz="1400" dirty="0">
                <a:solidFill>
                  <a:srgbClr val="151B47"/>
                </a:solidFill>
                <a:latin typeface="Calibri" pitchFamily="34" charset="0"/>
                <a:ea typeface="Calibri" pitchFamily="34" charset="-122"/>
                <a:cs typeface="Calibri" pitchFamily="34" charset="-120"/>
              </a:rPr>
              <a:t>Salary fit</a:t>
            </a:r>
            <a:endParaRPr lang="en-US" sz="1400" dirty="0"/>
          </a:p>
        </p:txBody>
      </p:sp>
      <p:sp>
        <p:nvSpPr>
          <p:cNvPr id="7" name="Shape 5"/>
          <p:cNvSpPr/>
          <p:nvPr/>
        </p:nvSpPr>
        <p:spPr>
          <a:xfrm>
            <a:off x="548640" y="3081528"/>
            <a:ext cx="201168" cy="201168"/>
          </a:xfrm>
          <a:prstGeom prst="ellipse">
            <a:avLst/>
          </a:prstGeom>
          <a:solidFill>
            <a:srgbClr val="1E2761"/>
          </a:solidFill>
          <a:ln/>
        </p:spPr>
      </p:sp>
      <p:sp>
        <p:nvSpPr>
          <p:cNvPr id="8" name="Text 6"/>
          <p:cNvSpPr/>
          <p:nvPr/>
        </p:nvSpPr>
        <p:spPr>
          <a:xfrm>
            <a:off x="868680" y="2962656"/>
            <a:ext cx="5029200" cy="457200"/>
          </a:xfrm>
          <a:prstGeom prst="rect">
            <a:avLst/>
          </a:prstGeom>
          <a:noFill/>
          <a:ln/>
        </p:spPr>
        <p:txBody>
          <a:bodyPr wrap="square" lIns="0" tIns="0" rIns="0" bIns="0" rtlCol="0" anchor="ctr"/>
          <a:lstStyle/>
          <a:p>
            <a:pPr indent="0" marL="0">
              <a:buNone/>
            </a:pPr>
            <a:r>
              <a:rPr lang="en-US" sz="1400" dirty="0">
                <a:solidFill>
                  <a:srgbClr val="151B47"/>
                </a:solidFill>
                <a:latin typeface="Calibri" pitchFamily="34" charset="0"/>
                <a:ea typeface="Calibri" pitchFamily="34" charset="-122"/>
                <a:cs typeface="Calibri" pitchFamily="34" charset="-120"/>
              </a:rPr>
              <a:t>Level match</a:t>
            </a:r>
            <a:endParaRPr lang="en-US" sz="1400" dirty="0"/>
          </a:p>
        </p:txBody>
      </p:sp>
      <p:sp>
        <p:nvSpPr>
          <p:cNvPr id="9" name="Shape 7"/>
          <p:cNvSpPr/>
          <p:nvPr/>
        </p:nvSpPr>
        <p:spPr>
          <a:xfrm>
            <a:off x="548640" y="3648456"/>
            <a:ext cx="201168" cy="201168"/>
          </a:xfrm>
          <a:prstGeom prst="ellipse">
            <a:avLst/>
          </a:prstGeom>
          <a:solidFill>
            <a:srgbClr val="1E2761"/>
          </a:solidFill>
          <a:ln/>
        </p:spPr>
      </p:sp>
      <p:sp>
        <p:nvSpPr>
          <p:cNvPr id="10" name="Text 8"/>
          <p:cNvSpPr/>
          <p:nvPr/>
        </p:nvSpPr>
        <p:spPr>
          <a:xfrm>
            <a:off x="868680" y="3529584"/>
            <a:ext cx="5029200" cy="457200"/>
          </a:xfrm>
          <a:prstGeom prst="rect">
            <a:avLst/>
          </a:prstGeom>
          <a:noFill/>
          <a:ln/>
        </p:spPr>
        <p:txBody>
          <a:bodyPr wrap="square" lIns="0" tIns="0" rIns="0" bIns="0" rtlCol="0" anchor="ctr"/>
          <a:lstStyle/>
          <a:p>
            <a:pPr indent="0" marL="0">
              <a:buNone/>
            </a:pPr>
            <a:r>
              <a:rPr lang="en-US" sz="1400" dirty="0">
                <a:solidFill>
                  <a:srgbClr val="151B47"/>
                </a:solidFill>
                <a:latin typeface="Calibri" pitchFamily="34" charset="0"/>
                <a:ea typeface="Calibri" pitchFamily="34" charset="-122"/>
                <a:cs typeface="Calibri" pitchFamily="34" charset="-120"/>
              </a:rPr>
              <a:t>Scope match</a:t>
            </a:r>
            <a:endParaRPr lang="en-US" sz="1400" dirty="0"/>
          </a:p>
        </p:txBody>
      </p:sp>
      <p:sp>
        <p:nvSpPr>
          <p:cNvPr id="11" name="Shape 9"/>
          <p:cNvSpPr/>
          <p:nvPr/>
        </p:nvSpPr>
        <p:spPr>
          <a:xfrm>
            <a:off x="548640" y="4215384"/>
            <a:ext cx="201168" cy="201168"/>
          </a:xfrm>
          <a:prstGeom prst="ellipse">
            <a:avLst/>
          </a:prstGeom>
          <a:solidFill>
            <a:srgbClr val="1E2761"/>
          </a:solidFill>
          <a:ln/>
        </p:spPr>
      </p:sp>
      <p:sp>
        <p:nvSpPr>
          <p:cNvPr id="12" name="Text 10"/>
          <p:cNvSpPr/>
          <p:nvPr/>
        </p:nvSpPr>
        <p:spPr>
          <a:xfrm>
            <a:off x="868680" y="4096512"/>
            <a:ext cx="5029200" cy="457200"/>
          </a:xfrm>
          <a:prstGeom prst="rect">
            <a:avLst/>
          </a:prstGeom>
          <a:noFill/>
          <a:ln/>
        </p:spPr>
        <p:txBody>
          <a:bodyPr wrap="square" lIns="0" tIns="0" rIns="0" bIns="0" rtlCol="0" anchor="ctr"/>
          <a:lstStyle/>
          <a:p>
            <a:pPr indent="0" marL="0">
              <a:buNone/>
            </a:pPr>
            <a:r>
              <a:rPr lang="en-US" sz="1400" dirty="0">
                <a:solidFill>
                  <a:srgbClr val="151B47"/>
                </a:solidFill>
                <a:latin typeface="Calibri" pitchFamily="34" charset="0"/>
                <a:ea typeface="Calibri" pitchFamily="34" charset="-122"/>
                <a:cs typeface="Calibri" pitchFamily="34" charset="-120"/>
              </a:rPr>
              <a:t>Technical fit</a:t>
            </a:r>
            <a:endParaRPr lang="en-US" sz="1400" dirty="0"/>
          </a:p>
        </p:txBody>
      </p:sp>
      <p:sp>
        <p:nvSpPr>
          <p:cNvPr id="13" name="Shape 11"/>
          <p:cNvSpPr/>
          <p:nvPr/>
        </p:nvSpPr>
        <p:spPr>
          <a:xfrm>
            <a:off x="548640" y="4782312"/>
            <a:ext cx="201168" cy="201168"/>
          </a:xfrm>
          <a:prstGeom prst="ellipse">
            <a:avLst/>
          </a:prstGeom>
          <a:solidFill>
            <a:srgbClr val="1E2761"/>
          </a:solidFill>
          <a:ln/>
        </p:spPr>
      </p:sp>
      <p:sp>
        <p:nvSpPr>
          <p:cNvPr id="14" name="Text 12"/>
          <p:cNvSpPr/>
          <p:nvPr/>
        </p:nvSpPr>
        <p:spPr>
          <a:xfrm>
            <a:off x="868680" y="4663440"/>
            <a:ext cx="5029200" cy="457200"/>
          </a:xfrm>
          <a:prstGeom prst="rect">
            <a:avLst/>
          </a:prstGeom>
          <a:noFill/>
          <a:ln/>
        </p:spPr>
        <p:txBody>
          <a:bodyPr wrap="square" lIns="0" tIns="0" rIns="0" bIns="0" rtlCol="0" anchor="ctr"/>
          <a:lstStyle/>
          <a:p>
            <a:pPr indent="0" marL="0">
              <a:buNone/>
            </a:pPr>
            <a:r>
              <a:rPr lang="en-US" sz="1400" dirty="0">
                <a:solidFill>
                  <a:srgbClr val="151B47"/>
                </a:solidFill>
                <a:latin typeface="Calibri" pitchFamily="34" charset="0"/>
                <a:ea typeface="Calibri" pitchFamily="34" charset="-122"/>
                <a:cs typeface="Calibri" pitchFamily="34" charset="-120"/>
              </a:rPr>
              <a:t>Domain fit</a:t>
            </a:r>
            <a:endParaRPr lang="en-US" sz="1400" dirty="0"/>
          </a:p>
        </p:txBody>
      </p:sp>
      <p:sp>
        <p:nvSpPr>
          <p:cNvPr id="15" name="Shape 13"/>
          <p:cNvSpPr/>
          <p:nvPr/>
        </p:nvSpPr>
        <p:spPr>
          <a:xfrm>
            <a:off x="6492240" y="1600200"/>
            <a:ext cx="5120640" cy="4434840"/>
          </a:xfrm>
          <a:prstGeom prst="rect">
            <a:avLst/>
          </a:prstGeom>
          <a:solidFill>
            <a:srgbClr val="1E2761"/>
          </a:solidFill>
          <a:ln/>
        </p:spPr>
      </p:sp>
      <p:sp>
        <p:nvSpPr>
          <p:cNvPr id="16" name="Text 14"/>
          <p:cNvSpPr/>
          <p:nvPr/>
        </p:nvSpPr>
        <p:spPr>
          <a:xfrm>
            <a:off x="6858000" y="1828800"/>
            <a:ext cx="4389120" cy="320040"/>
          </a:xfrm>
          <a:prstGeom prst="rect">
            <a:avLst/>
          </a:prstGeom>
          <a:noFill/>
          <a:ln/>
        </p:spPr>
        <p:txBody>
          <a:bodyPr wrap="square" lIns="0" tIns="0" rIns="0" bIns="0" rtlCol="0" anchor="ctr"/>
          <a:lstStyle/>
          <a:p>
            <a:pPr indent="0" marL="0">
              <a:buNone/>
            </a:pPr>
            <a:r>
              <a:rPr lang="en-US" sz="1200" b="1" spc="150" kern="0" dirty="0">
                <a:solidFill>
                  <a:srgbClr val="CADCFC"/>
                </a:solidFill>
              </a:rPr>
              <a:t>DECISION RULES</a:t>
            </a:r>
            <a:endParaRPr lang="en-US" sz="1200" dirty="0"/>
          </a:p>
        </p:txBody>
      </p:sp>
      <p:sp>
        <p:nvSpPr>
          <p:cNvPr id="17" name="Text 15"/>
          <p:cNvSpPr/>
          <p:nvPr/>
        </p:nvSpPr>
        <p:spPr>
          <a:xfrm>
            <a:off x="6858000" y="2331720"/>
            <a:ext cx="4434840" cy="777240"/>
          </a:xfrm>
          <a:prstGeom prst="rect">
            <a:avLst/>
          </a:prstGeom>
          <a:noFill/>
          <a:ln/>
        </p:spPr>
        <p:txBody>
          <a:bodyPr wrap="square" lIns="0" tIns="0" rIns="0" bIns="0" rtlCol="0" anchor="t"/>
          <a:lstStyle/>
          <a:p>
            <a:pPr marL="342900" indent="-342900">
              <a:lnSpc>
                <a:spcPct val="105000"/>
              </a:lnSpc>
              <a:buSzPct val="100000"/>
              <a:buChar char="•"/>
            </a:pPr>
            <a:r>
              <a:rPr lang="en-US" sz="1250" dirty="0">
                <a:solidFill>
                  <a:srgbClr val="FFFFFF"/>
                </a:solidFill>
                <a:latin typeface="Calibri" pitchFamily="34" charset="0"/>
                <a:ea typeface="Calibri" pitchFamily="34" charset="-122"/>
                <a:cs typeface="Calibri" pitchFamily="34" charset="-120"/>
              </a:rPr>
              <a:t>Verdict: Process / Review / Skip — a clear call on every lead, not just a score.</a:t>
            </a:r>
            <a:endParaRPr lang="en-US" sz="1250" dirty="0"/>
          </a:p>
        </p:txBody>
      </p:sp>
      <p:sp>
        <p:nvSpPr>
          <p:cNvPr id="18" name="Text 16"/>
          <p:cNvSpPr/>
          <p:nvPr/>
        </p:nvSpPr>
        <p:spPr>
          <a:xfrm>
            <a:off x="6858000" y="3108960"/>
            <a:ext cx="4434840" cy="777240"/>
          </a:xfrm>
          <a:prstGeom prst="rect">
            <a:avLst/>
          </a:prstGeom>
          <a:noFill/>
          <a:ln/>
        </p:spPr>
        <p:txBody>
          <a:bodyPr wrap="square" lIns="0" tIns="0" rIns="0" bIns="0" rtlCol="0" anchor="t"/>
          <a:lstStyle/>
          <a:p>
            <a:pPr marL="342900" indent="-342900">
              <a:lnSpc>
                <a:spcPct val="105000"/>
              </a:lnSpc>
              <a:buSzPct val="100000"/>
              <a:buChar char="•"/>
            </a:pPr>
            <a:r>
              <a:rPr lang="en-US" sz="1250" dirty="0">
                <a:solidFill>
                  <a:srgbClr val="FFFFFF"/>
                </a:solidFill>
                <a:latin typeface="Calibri" pitchFamily="34" charset="0"/>
                <a:ea typeface="Calibri" pitchFamily="34" charset="-122"/>
                <a:cs typeface="Calibri" pitchFamily="34" charset="-120"/>
              </a:rPr>
              <a:t>Always processed: Principal TPM, Director of Program Management, Program Director.</a:t>
            </a:r>
            <a:endParaRPr lang="en-US" sz="1250" dirty="0"/>
          </a:p>
        </p:txBody>
      </p:sp>
      <p:sp>
        <p:nvSpPr>
          <p:cNvPr id="19" name="Text 17"/>
          <p:cNvSpPr/>
          <p:nvPr/>
        </p:nvSpPr>
        <p:spPr>
          <a:xfrm>
            <a:off x="6858000" y="3886200"/>
            <a:ext cx="4434840" cy="777240"/>
          </a:xfrm>
          <a:prstGeom prst="rect">
            <a:avLst/>
          </a:prstGeom>
          <a:noFill/>
          <a:ln/>
        </p:spPr>
        <p:txBody>
          <a:bodyPr wrap="square" lIns="0" tIns="0" rIns="0" bIns="0" rtlCol="0" anchor="t"/>
          <a:lstStyle/>
          <a:p>
            <a:pPr marL="342900" indent="-342900">
              <a:lnSpc>
                <a:spcPct val="105000"/>
              </a:lnSpc>
              <a:buSzPct val="100000"/>
              <a:buChar char="•"/>
            </a:pPr>
            <a:r>
              <a:rPr lang="en-US" sz="1250" dirty="0">
                <a:solidFill>
                  <a:srgbClr val="FFFFFF"/>
                </a:solidFill>
                <a:latin typeface="Calibri" pitchFamily="34" charset="0"/>
                <a:ea typeface="Calibri" pitchFamily="34" charset="-122"/>
                <a:cs typeface="Calibri" pitchFamily="34" charset="-120"/>
              </a:rPr>
              <a:t>Conditional: Senior TPM / Senior PM roles only proceed automatically if listed salary tops $XXXK.</a:t>
            </a:r>
            <a:endParaRPr lang="en-US" sz="1250" dirty="0"/>
          </a:p>
        </p:txBody>
      </p:sp>
      <p:sp>
        <p:nvSpPr>
          <p:cNvPr id="20" name="Text 18"/>
          <p:cNvSpPr/>
          <p:nvPr/>
        </p:nvSpPr>
        <p:spPr>
          <a:xfrm>
            <a:off x="6858000" y="4663440"/>
            <a:ext cx="4434840" cy="777240"/>
          </a:xfrm>
          <a:prstGeom prst="rect">
            <a:avLst/>
          </a:prstGeom>
          <a:noFill/>
          <a:ln/>
        </p:spPr>
        <p:txBody>
          <a:bodyPr wrap="square" lIns="0" tIns="0" rIns="0" bIns="0" rtlCol="0" anchor="t"/>
          <a:lstStyle/>
          <a:p>
            <a:pPr marL="342900" indent="-342900">
              <a:lnSpc>
                <a:spcPct val="105000"/>
              </a:lnSpc>
              <a:buSzPct val="100000"/>
              <a:buChar char="•"/>
            </a:pPr>
            <a:r>
              <a:rPr lang="en-US" sz="1250" dirty="0">
                <a:solidFill>
                  <a:srgbClr val="FFFFFF"/>
                </a:solidFill>
                <a:latin typeface="Calibri" pitchFamily="34" charset="0"/>
                <a:ea typeface="Calibri" pitchFamily="34" charset="-122"/>
                <a:cs typeface="Calibri" pitchFamily="34" charset="-120"/>
              </a:rPr>
              <a:t>If salary isn't listed for a Senior role, it's surfaced to Lisa to decide — never assumed.</a:t>
            </a:r>
            <a:endParaRPr lang="en-US" sz="1250" dirty="0"/>
          </a:p>
        </p:txBody>
      </p:sp>
      <p:sp>
        <p:nvSpPr>
          <p:cNvPr id="21" name="Text 19"/>
          <p:cNvSpPr/>
          <p:nvPr/>
        </p:nvSpPr>
        <p:spPr>
          <a:xfrm>
            <a:off x="6858000" y="5440680"/>
            <a:ext cx="4434840" cy="777240"/>
          </a:xfrm>
          <a:prstGeom prst="rect">
            <a:avLst/>
          </a:prstGeom>
          <a:noFill/>
          <a:ln/>
        </p:spPr>
        <p:txBody>
          <a:bodyPr wrap="square" lIns="0" tIns="0" rIns="0" bIns="0" rtlCol="0" anchor="t"/>
          <a:lstStyle/>
          <a:p>
            <a:pPr marL="342900" indent="-342900">
              <a:lnSpc>
                <a:spcPct val="105000"/>
              </a:lnSpc>
              <a:buSzPct val="100000"/>
              <a:buChar char="•"/>
            </a:pPr>
            <a:r>
              <a:rPr lang="en-US" sz="1250" dirty="0">
                <a:solidFill>
                  <a:srgbClr val="FFFFFF"/>
                </a:solidFill>
                <a:latin typeface="Calibri" pitchFamily="34" charset="0"/>
                <a:ea typeface="Calibri" pitchFamily="34" charset="-122"/>
                <a:cs typeface="Calibri" pitchFamily="34" charset="-120"/>
              </a:rPr>
              <a:t>Every scored role gets a card on the Job Match Analysis board automatically.</a:t>
            </a:r>
            <a:endParaRPr lang="en-US" sz="125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CONSISTENT, ATS-SAFE FORMATTING</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Same polished format, every single time</a:t>
            </a:r>
            <a:endParaRPr lang="en-US" sz="3200" dirty="0"/>
          </a:p>
        </p:txBody>
      </p:sp>
      <p:sp>
        <p:nvSpPr>
          <p:cNvPr id="4" name="Text 2"/>
          <p:cNvSpPr/>
          <p:nvPr/>
        </p:nvSpPr>
        <p:spPr>
          <a:xfrm>
            <a:off x="548640" y="1600200"/>
            <a:ext cx="10972800" cy="502920"/>
          </a:xfrm>
          <a:prstGeom prst="rect">
            <a:avLst/>
          </a:prstGeom>
          <a:noFill/>
          <a:ln/>
        </p:spPr>
        <p:txBody>
          <a:bodyPr wrap="square" lIns="0" tIns="0" rIns="0" bIns="0" rtlCol="0" anchor="ctr"/>
          <a:lstStyle/>
          <a:p>
            <a:pPr indent="0" marL="0">
              <a:buNone/>
            </a:pPr>
            <a:r>
              <a:rPr lang="en-US" sz="1450" dirty="0">
                <a:solidFill>
                  <a:srgbClr val="44506B"/>
                </a:solidFill>
                <a:latin typeface="Calibri" pitchFamily="34" charset="0"/>
                <a:ea typeface="Calibri" pitchFamily="34" charset="-122"/>
                <a:cs typeface="Calibri" pitchFamily="34" charset="-120"/>
              </a:rPr>
              <a:t>Formatting rules are applied automatically to every tailored resume — no manual cleanup, no drift between versions.</a:t>
            </a:r>
            <a:endParaRPr lang="en-US" sz="1450" dirty="0"/>
          </a:p>
        </p:txBody>
      </p:sp>
      <p:sp>
        <p:nvSpPr>
          <p:cNvPr id="5" name="Shape 3"/>
          <p:cNvSpPr/>
          <p:nvPr/>
        </p:nvSpPr>
        <p:spPr>
          <a:xfrm>
            <a:off x="548640" y="2331720"/>
            <a:ext cx="5212080" cy="658368"/>
          </a:xfrm>
          <a:prstGeom prst="rect">
            <a:avLst/>
          </a:prstGeom>
          <a:solidFill>
            <a:srgbClr val="F4F6FB"/>
          </a:solidFill>
          <a:ln/>
        </p:spPr>
      </p:sp>
      <p:sp>
        <p:nvSpPr>
          <p:cNvPr id="6" name="Text 4"/>
          <p:cNvSpPr/>
          <p:nvPr/>
        </p:nvSpPr>
        <p:spPr>
          <a:xfrm>
            <a:off x="777240" y="233172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Font</a:t>
            </a:r>
            <a:endParaRPr lang="en-US" sz="1300" dirty="0"/>
          </a:p>
        </p:txBody>
      </p:sp>
      <p:sp>
        <p:nvSpPr>
          <p:cNvPr id="7" name="Text 5"/>
          <p:cNvSpPr/>
          <p:nvPr/>
        </p:nvSpPr>
        <p:spPr>
          <a:xfrm>
            <a:off x="2788920" y="233172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Aptos throughout</a:t>
            </a:r>
            <a:endParaRPr lang="en-US" sz="1200" dirty="0"/>
          </a:p>
        </p:txBody>
      </p:sp>
      <p:sp>
        <p:nvSpPr>
          <p:cNvPr id="8" name="Shape 6"/>
          <p:cNvSpPr/>
          <p:nvPr/>
        </p:nvSpPr>
        <p:spPr>
          <a:xfrm>
            <a:off x="548640" y="3108960"/>
            <a:ext cx="5212080" cy="658368"/>
          </a:xfrm>
          <a:prstGeom prst="rect">
            <a:avLst/>
          </a:prstGeom>
          <a:solidFill>
            <a:srgbClr val="F4F6FB"/>
          </a:solidFill>
          <a:ln/>
        </p:spPr>
      </p:sp>
      <p:sp>
        <p:nvSpPr>
          <p:cNvPr id="9" name="Text 7"/>
          <p:cNvSpPr/>
          <p:nvPr/>
        </p:nvSpPr>
        <p:spPr>
          <a:xfrm>
            <a:off x="777240" y="310896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Name</a:t>
            </a:r>
            <a:endParaRPr lang="en-US" sz="1300" dirty="0"/>
          </a:p>
        </p:txBody>
      </p:sp>
      <p:sp>
        <p:nvSpPr>
          <p:cNvPr id="10" name="Text 8"/>
          <p:cNvSpPr/>
          <p:nvPr/>
        </p:nvSpPr>
        <p:spPr>
          <a:xfrm>
            <a:off x="2788920" y="310896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18pt</a:t>
            </a:r>
            <a:endParaRPr lang="en-US" sz="1200" dirty="0"/>
          </a:p>
        </p:txBody>
      </p:sp>
      <p:sp>
        <p:nvSpPr>
          <p:cNvPr id="11" name="Shape 9"/>
          <p:cNvSpPr/>
          <p:nvPr/>
        </p:nvSpPr>
        <p:spPr>
          <a:xfrm>
            <a:off x="548640" y="3886200"/>
            <a:ext cx="5212080" cy="658368"/>
          </a:xfrm>
          <a:prstGeom prst="rect">
            <a:avLst/>
          </a:prstGeom>
          <a:solidFill>
            <a:srgbClr val="F4F6FB"/>
          </a:solidFill>
          <a:ln/>
        </p:spPr>
      </p:sp>
      <p:sp>
        <p:nvSpPr>
          <p:cNvPr id="12" name="Text 10"/>
          <p:cNvSpPr/>
          <p:nvPr/>
        </p:nvSpPr>
        <p:spPr>
          <a:xfrm>
            <a:off x="777240" y="388620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Section headings</a:t>
            </a:r>
            <a:endParaRPr lang="en-US" sz="1300" dirty="0"/>
          </a:p>
        </p:txBody>
      </p:sp>
      <p:sp>
        <p:nvSpPr>
          <p:cNvPr id="13" name="Text 11"/>
          <p:cNvSpPr/>
          <p:nvPr/>
        </p:nvSpPr>
        <p:spPr>
          <a:xfrm>
            <a:off x="2788920" y="388620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14pt, ALL CAPS</a:t>
            </a:r>
            <a:endParaRPr lang="en-US" sz="1200" dirty="0"/>
          </a:p>
        </p:txBody>
      </p:sp>
      <p:sp>
        <p:nvSpPr>
          <p:cNvPr id="14" name="Shape 12"/>
          <p:cNvSpPr/>
          <p:nvPr/>
        </p:nvSpPr>
        <p:spPr>
          <a:xfrm>
            <a:off x="548640" y="4663440"/>
            <a:ext cx="5212080" cy="658368"/>
          </a:xfrm>
          <a:prstGeom prst="rect">
            <a:avLst/>
          </a:prstGeom>
          <a:solidFill>
            <a:srgbClr val="F4F6FB"/>
          </a:solidFill>
          <a:ln/>
        </p:spPr>
      </p:sp>
      <p:sp>
        <p:nvSpPr>
          <p:cNvPr id="15" name="Text 13"/>
          <p:cNvSpPr/>
          <p:nvPr/>
        </p:nvSpPr>
        <p:spPr>
          <a:xfrm>
            <a:off x="777240" y="466344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Company names</a:t>
            </a:r>
            <a:endParaRPr lang="en-US" sz="1300" dirty="0"/>
          </a:p>
        </p:txBody>
      </p:sp>
      <p:sp>
        <p:nvSpPr>
          <p:cNvPr id="16" name="Text 14"/>
          <p:cNvSpPr/>
          <p:nvPr/>
        </p:nvSpPr>
        <p:spPr>
          <a:xfrm>
            <a:off x="2788920" y="466344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13pt, Bold</a:t>
            </a:r>
            <a:endParaRPr lang="en-US" sz="1200" dirty="0"/>
          </a:p>
        </p:txBody>
      </p:sp>
      <p:sp>
        <p:nvSpPr>
          <p:cNvPr id="17" name="Shape 15"/>
          <p:cNvSpPr/>
          <p:nvPr/>
        </p:nvSpPr>
        <p:spPr>
          <a:xfrm>
            <a:off x="548640" y="5440680"/>
            <a:ext cx="5212080" cy="658368"/>
          </a:xfrm>
          <a:prstGeom prst="rect">
            <a:avLst/>
          </a:prstGeom>
          <a:solidFill>
            <a:srgbClr val="F4F6FB"/>
          </a:solidFill>
          <a:ln/>
        </p:spPr>
      </p:sp>
      <p:sp>
        <p:nvSpPr>
          <p:cNvPr id="18" name="Text 16"/>
          <p:cNvSpPr/>
          <p:nvPr/>
        </p:nvSpPr>
        <p:spPr>
          <a:xfrm>
            <a:off x="777240" y="544068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Job titles</a:t>
            </a:r>
            <a:endParaRPr lang="en-US" sz="1300" dirty="0"/>
          </a:p>
        </p:txBody>
      </p:sp>
      <p:sp>
        <p:nvSpPr>
          <p:cNvPr id="19" name="Text 17"/>
          <p:cNvSpPr/>
          <p:nvPr/>
        </p:nvSpPr>
        <p:spPr>
          <a:xfrm>
            <a:off x="2788920" y="544068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12pt, Bold</a:t>
            </a:r>
            <a:endParaRPr lang="en-US" sz="1200" dirty="0"/>
          </a:p>
        </p:txBody>
      </p:sp>
      <p:sp>
        <p:nvSpPr>
          <p:cNvPr id="20" name="Shape 18"/>
          <p:cNvSpPr/>
          <p:nvPr/>
        </p:nvSpPr>
        <p:spPr>
          <a:xfrm>
            <a:off x="6355080" y="2331720"/>
            <a:ext cx="5212080" cy="658368"/>
          </a:xfrm>
          <a:prstGeom prst="rect">
            <a:avLst/>
          </a:prstGeom>
          <a:solidFill>
            <a:srgbClr val="F4F6FB"/>
          </a:solidFill>
          <a:ln/>
        </p:spPr>
      </p:sp>
      <p:sp>
        <p:nvSpPr>
          <p:cNvPr id="21" name="Text 19"/>
          <p:cNvSpPr/>
          <p:nvPr/>
        </p:nvSpPr>
        <p:spPr>
          <a:xfrm>
            <a:off x="6583680" y="233172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Body text</a:t>
            </a:r>
            <a:endParaRPr lang="en-US" sz="1300" dirty="0"/>
          </a:p>
        </p:txBody>
      </p:sp>
      <p:sp>
        <p:nvSpPr>
          <p:cNvPr id="22" name="Text 20"/>
          <p:cNvSpPr/>
          <p:nvPr/>
        </p:nvSpPr>
        <p:spPr>
          <a:xfrm>
            <a:off x="8595360" y="233172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12pt</a:t>
            </a:r>
            <a:endParaRPr lang="en-US" sz="1200" dirty="0"/>
          </a:p>
        </p:txBody>
      </p:sp>
      <p:sp>
        <p:nvSpPr>
          <p:cNvPr id="23" name="Shape 21"/>
          <p:cNvSpPr/>
          <p:nvPr/>
        </p:nvSpPr>
        <p:spPr>
          <a:xfrm>
            <a:off x="6355080" y="3108960"/>
            <a:ext cx="5212080" cy="658368"/>
          </a:xfrm>
          <a:prstGeom prst="rect">
            <a:avLst/>
          </a:prstGeom>
          <a:solidFill>
            <a:srgbClr val="F4F6FB"/>
          </a:solidFill>
          <a:ln/>
        </p:spPr>
      </p:sp>
      <p:sp>
        <p:nvSpPr>
          <p:cNvPr id="24" name="Text 22"/>
          <p:cNvSpPr/>
          <p:nvPr/>
        </p:nvSpPr>
        <p:spPr>
          <a:xfrm>
            <a:off x="6583680" y="310896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Contact line</a:t>
            </a:r>
            <a:endParaRPr lang="en-US" sz="1300" dirty="0"/>
          </a:p>
        </p:txBody>
      </p:sp>
      <p:sp>
        <p:nvSpPr>
          <p:cNvPr id="25" name="Text 23"/>
          <p:cNvSpPr/>
          <p:nvPr/>
        </p:nvSpPr>
        <p:spPr>
          <a:xfrm>
            <a:off x="8595360" y="310896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10pt (city, phone, email, LinkedIn)</a:t>
            </a:r>
            <a:endParaRPr lang="en-US" sz="1200" dirty="0"/>
          </a:p>
        </p:txBody>
      </p:sp>
      <p:sp>
        <p:nvSpPr>
          <p:cNvPr id="26" name="Shape 24"/>
          <p:cNvSpPr/>
          <p:nvPr/>
        </p:nvSpPr>
        <p:spPr>
          <a:xfrm>
            <a:off x="6355080" y="3886200"/>
            <a:ext cx="5212080" cy="658368"/>
          </a:xfrm>
          <a:prstGeom prst="rect">
            <a:avLst/>
          </a:prstGeom>
          <a:solidFill>
            <a:srgbClr val="F4F6FB"/>
          </a:solidFill>
          <a:ln/>
        </p:spPr>
      </p:sp>
      <p:sp>
        <p:nvSpPr>
          <p:cNvPr id="27" name="Text 25"/>
          <p:cNvSpPr/>
          <p:nvPr/>
        </p:nvSpPr>
        <p:spPr>
          <a:xfrm>
            <a:off x="6583680" y="388620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Margins</a:t>
            </a:r>
            <a:endParaRPr lang="en-US" sz="1300" dirty="0"/>
          </a:p>
        </p:txBody>
      </p:sp>
      <p:sp>
        <p:nvSpPr>
          <p:cNvPr id="28" name="Text 26"/>
          <p:cNvSpPr/>
          <p:nvPr/>
        </p:nvSpPr>
        <p:spPr>
          <a:xfrm>
            <a:off x="8595360" y="388620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0.6" on all sides</a:t>
            </a:r>
            <a:endParaRPr lang="en-US" sz="1200" dirty="0"/>
          </a:p>
        </p:txBody>
      </p:sp>
      <p:sp>
        <p:nvSpPr>
          <p:cNvPr id="29" name="Shape 27"/>
          <p:cNvSpPr/>
          <p:nvPr/>
        </p:nvSpPr>
        <p:spPr>
          <a:xfrm>
            <a:off x="6355080" y="4663440"/>
            <a:ext cx="5212080" cy="658368"/>
          </a:xfrm>
          <a:prstGeom prst="rect">
            <a:avLst/>
          </a:prstGeom>
          <a:solidFill>
            <a:srgbClr val="F4F6FB"/>
          </a:solidFill>
          <a:ln/>
        </p:spPr>
      </p:sp>
      <p:sp>
        <p:nvSpPr>
          <p:cNvPr id="30" name="Text 28"/>
          <p:cNvSpPr/>
          <p:nvPr/>
        </p:nvSpPr>
        <p:spPr>
          <a:xfrm>
            <a:off x="6583680" y="466344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Length</a:t>
            </a:r>
            <a:endParaRPr lang="en-US" sz="1300" dirty="0"/>
          </a:p>
        </p:txBody>
      </p:sp>
      <p:sp>
        <p:nvSpPr>
          <p:cNvPr id="31" name="Text 29"/>
          <p:cNvSpPr/>
          <p:nvPr/>
        </p:nvSpPr>
        <p:spPr>
          <a:xfrm>
            <a:off x="8595360" y="466344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Two pages maximum</a:t>
            </a:r>
            <a:endParaRPr lang="en-US" sz="1200" dirty="0"/>
          </a:p>
        </p:txBody>
      </p:sp>
      <p:sp>
        <p:nvSpPr>
          <p:cNvPr id="32" name="Shape 30"/>
          <p:cNvSpPr/>
          <p:nvPr/>
        </p:nvSpPr>
        <p:spPr>
          <a:xfrm>
            <a:off x="6355080" y="5440680"/>
            <a:ext cx="5212080" cy="658368"/>
          </a:xfrm>
          <a:prstGeom prst="rect">
            <a:avLst/>
          </a:prstGeom>
          <a:solidFill>
            <a:srgbClr val="F4F6FB"/>
          </a:solidFill>
          <a:ln/>
        </p:spPr>
      </p:sp>
      <p:sp>
        <p:nvSpPr>
          <p:cNvPr id="33" name="Text 31"/>
          <p:cNvSpPr/>
          <p:nvPr/>
        </p:nvSpPr>
        <p:spPr>
          <a:xfrm>
            <a:off x="6583680" y="5440680"/>
            <a:ext cx="2011680" cy="658368"/>
          </a:xfrm>
          <a:prstGeom prst="rect">
            <a:avLst/>
          </a:prstGeom>
          <a:noFill/>
          <a:ln/>
        </p:spPr>
        <p:txBody>
          <a:bodyPr wrap="square" lIns="0" tIns="0" rIns="0" bIns="0" rtlCol="0" anchor="ctr"/>
          <a:lstStyle/>
          <a:p>
            <a:pPr indent="0" marL="0">
              <a:buNone/>
            </a:pPr>
            <a:r>
              <a:rPr lang="en-US" sz="1300" b="1" dirty="0">
                <a:solidFill>
                  <a:srgbClr val="151B47"/>
                </a:solidFill>
                <a:latin typeface="Calibri" pitchFamily="34" charset="0"/>
                <a:ea typeface="Calibri" pitchFamily="34" charset="-122"/>
                <a:cs typeface="Calibri" pitchFamily="34" charset="-120"/>
              </a:rPr>
              <a:t>No underline bars or rules</a:t>
            </a:r>
            <a:endParaRPr lang="en-US" sz="1300" dirty="0"/>
          </a:p>
        </p:txBody>
      </p:sp>
      <p:sp>
        <p:nvSpPr>
          <p:cNvPr id="34" name="Text 32"/>
          <p:cNvSpPr/>
          <p:nvPr/>
        </p:nvSpPr>
        <p:spPr>
          <a:xfrm>
            <a:off x="8595360" y="5440680"/>
            <a:ext cx="2834640" cy="65836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ATS systems can misread them</a:t>
            </a:r>
            <a:endParaRPr lang="en-US" sz="1200" dirty="0"/>
          </a:p>
        </p:txBody>
      </p:sp>
      <p:sp>
        <p:nvSpPr>
          <p:cNvPr id="35" name="Text 33"/>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STATUS BOARDS &amp; DASHBOARDS</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One spreadsheet, three live boards</a:t>
            </a:r>
            <a:endParaRPr lang="en-US" sz="3200" dirty="0"/>
          </a:p>
        </p:txBody>
      </p:sp>
      <p:sp>
        <p:nvSpPr>
          <p:cNvPr id="4" name="Shape 2"/>
          <p:cNvSpPr/>
          <p:nvPr/>
        </p:nvSpPr>
        <p:spPr>
          <a:xfrm>
            <a:off x="502920" y="1508760"/>
            <a:ext cx="11155680" cy="1051560"/>
          </a:xfrm>
          <a:prstGeom prst="rect">
            <a:avLst/>
          </a:prstGeom>
          <a:solidFill>
            <a:srgbClr val="F4F6FB"/>
          </a:solidFill>
          <a:ln/>
        </p:spPr>
      </p:sp>
      <p:sp>
        <p:nvSpPr>
          <p:cNvPr id="5" name="Shape 3"/>
          <p:cNvSpPr/>
          <p:nvPr/>
        </p:nvSpPr>
        <p:spPr>
          <a:xfrm>
            <a:off x="502920" y="1508760"/>
            <a:ext cx="73152" cy="1051560"/>
          </a:xfrm>
          <a:prstGeom prst="rect">
            <a:avLst/>
          </a:prstGeom>
          <a:solidFill>
            <a:srgbClr val="C77B12"/>
          </a:solidFill>
          <a:ln/>
        </p:spPr>
      </p:sp>
      <p:sp>
        <p:nvSpPr>
          <p:cNvPr id="6" name="Text 4"/>
          <p:cNvSpPr/>
          <p:nvPr/>
        </p:nvSpPr>
        <p:spPr>
          <a:xfrm>
            <a:off x="868680" y="1645920"/>
            <a:ext cx="8046720" cy="365760"/>
          </a:xfrm>
          <a:prstGeom prst="rect">
            <a:avLst/>
          </a:prstGeom>
          <a:noFill/>
          <a:ln/>
        </p:spPr>
        <p:txBody>
          <a:bodyPr wrap="square" lIns="0" tIns="0" rIns="0" bIns="0" rtlCol="0" anchor="ctr"/>
          <a:lstStyle/>
          <a:p>
            <a:pPr indent="0" marL="0">
              <a:buNone/>
            </a:pPr>
            <a:r>
              <a:rPr lang="en-US" sz="1550" b="1" dirty="0">
                <a:solidFill>
                  <a:srgbClr val="151B47"/>
                </a:solidFill>
                <a:latin typeface="Calibri" pitchFamily="34" charset="0"/>
                <a:ea typeface="Calibri" pitchFamily="34" charset="-122"/>
                <a:cs typeface="Calibri" pitchFamily="34" charset="-120"/>
              </a:rPr>
              <a:t>Job Applications Tracker.xlsx — the source of truth</a:t>
            </a:r>
            <a:endParaRPr lang="en-US" sz="1550" dirty="0"/>
          </a:p>
        </p:txBody>
      </p:sp>
      <p:sp>
        <p:nvSpPr>
          <p:cNvPr id="7" name="Text 5"/>
          <p:cNvSpPr/>
          <p:nvPr/>
        </p:nvSpPr>
        <p:spPr>
          <a:xfrm>
            <a:off x="868680" y="2011680"/>
            <a:ext cx="10424160" cy="502920"/>
          </a:xfrm>
          <a:prstGeom prst="rect">
            <a:avLst/>
          </a:prstGeom>
          <a:noFill/>
          <a:ln/>
        </p:spPr>
        <p:txBody>
          <a:bodyPr wrap="square" lIns="0" tIns="0" rIns="0" bIns="0" rtlCol="0" anchor="t"/>
          <a:lstStyle/>
          <a:p>
            <a:pPr indent="0" marL="0">
              <a:buNone/>
            </a:pPr>
            <a:r>
              <a:rPr lang="en-US" sz="1150" dirty="0">
                <a:solidFill>
                  <a:srgbClr val="44506B"/>
                </a:solidFill>
                <a:latin typeface="Calibri" pitchFamily="34" charset="0"/>
                <a:ea typeface="Calibri" pitchFamily="34" charset="-122"/>
                <a:cs typeface="Calibri" pitchFamily="34" charset="-120"/>
              </a:rPr>
              <a:t>One row per job — company, role, status, source, resume file, job URL — updated by the pipeline every time a lead is processed or Lisa reports progress. Every dashboard below is generated from, and reconciled against, this sheet.</a:t>
            </a:r>
            <a:endParaRPr lang="en-US" sz="1150" dirty="0"/>
          </a:p>
        </p:txBody>
      </p:sp>
      <p:sp>
        <p:nvSpPr>
          <p:cNvPr id="8" name="Text 6"/>
          <p:cNvSpPr/>
          <p:nvPr/>
        </p:nvSpPr>
        <p:spPr>
          <a:xfrm>
            <a:off x="502920" y="2615184"/>
            <a:ext cx="11155680" cy="274320"/>
          </a:xfrm>
          <a:prstGeom prst="rect">
            <a:avLst/>
          </a:prstGeom>
          <a:noFill/>
          <a:ln/>
        </p:spPr>
        <p:txBody>
          <a:bodyPr wrap="square" lIns="0" tIns="0" rIns="0" bIns="0" rtlCol="0" anchor="ctr"/>
          <a:lstStyle/>
          <a:p>
            <a:pPr algn="ctr" indent="0" marL="0">
              <a:buNone/>
            </a:pPr>
            <a:r>
              <a:rPr lang="en-US" sz="1100" i="1" dirty="0">
                <a:solidFill>
                  <a:srgbClr val="6B7694"/>
                </a:solidFill>
              </a:rPr>
              <a:t>feeds &amp; reconciles ↓</a:t>
            </a:r>
            <a:endParaRPr lang="en-US" sz="1100" dirty="0"/>
          </a:p>
        </p:txBody>
      </p:sp>
      <p:sp>
        <p:nvSpPr>
          <p:cNvPr id="9" name="Shape 7"/>
          <p:cNvSpPr/>
          <p:nvPr/>
        </p:nvSpPr>
        <p:spPr>
          <a:xfrm>
            <a:off x="502920" y="2971800"/>
            <a:ext cx="3611880" cy="2788920"/>
          </a:xfrm>
          <a:prstGeom prst="rect">
            <a:avLst/>
          </a:prstGeom>
          <a:solidFill>
            <a:srgbClr val="151B47"/>
          </a:solidFill>
          <a:ln/>
        </p:spPr>
      </p:sp>
      <p:sp>
        <p:nvSpPr>
          <p:cNvPr id="10" name="Shape 8"/>
          <p:cNvSpPr/>
          <p:nvPr/>
        </p:nvSpPr>
        <p:spPr>
          <a:xfrm>
            <a:off x="502920" y="2971800"/>
            <a:ext cx="3611880" cy="91440"/>
          </a:xfrm>
          <a:prstGeom prst="rect">
            <a:avLst/>
          </a:prstGeom>
          <a:solidFill>
            <a:srgbClr val="C77B12"/>
          </a:solidFill>
          <a:ln/>
        </p:spPr>
      </p:sp>
      <p:sp>
        <p:nvSpPr>
          <p:cNvPr id="11" name="Text 9"/>
          <p:cNvSpPr/>
          <p:nvPr/>
        </p:nvSpPr>
        <p:spPr>
          <a:xfrm>
            <a:off x="777240" y="3291840"/>
            <a:ext cx="3063240" cy="59436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Job Match Analysis</a:t>
            </a:r>
            <a:endParaRPr lang="en-US" sz="1550" dirty="0"/>
          </a:p>
        </p:txBody>
      </p:sp>
      <p:sp>
        <p:nvSpPr>
          <p:cNvPr id="12" name="Text 10"/>
          <p:cNvSpPr/>
          <p:nvPr/>
        </p:nvSpPr>
        <p:spPr>
          <a:xfrm>
            <a:off x="777240" y="3931920"/>
            <a:ext cx="3063240" cy="1645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Every scored role as a card: dimension bars, verdict, salary, and an Applied badge sourced straight from the tracker.</a:t>
            </a:r>
            <a:endParaRPr lang="en-US" sz="1200" dirty="0"/>
          </a:p>
        </p:txBody>
      </p:sp>
      <p:sp>
        <p:nvSpPr>
          <p:cNvPr id="13" name="Shape 11"/>
          <p:cNvSpPr/>
          <p:nvPr/>
        </p:nvSpPr>
        <p:spPr>
          <a:xfrm>
            <a:off x="4297680" y="2971800"/>
            <a:ext cx="3611880" cy="2788920"/>
          </a:xfrm>
          <a:prstGeom prst="rect">
            <a:avLst/>
          </a:prstGeom>
          <a:solidFill>
            <a:srgbClr val="151B47"/>
          </a:solidFill>
          <a:ln/>
        </p:spPr>
      </p:sp>
      <p:sp>
        <p:nvSpPr>
          <p:cNvPr id="14" name="Shape 12"/>
          <p:cNvSpPr/>
          <p:nvPr/>
        </p:nvSpPr>
        <p:spPr>
          <a:xfrm>
            <a:off x="4297680" y="2971800"/>
            <a:ext cx="3611880" cy="91440"/>
          </a:xfrm>
          <a:prstGeom prst="rect">
            <a:avLst/>
          </a:prstGeom>
          <a:solidFill>
            <a:srgbClr val="C77B12"/>
          </a:solidFill>
          <a:ln/>
        </p:spPr>
      </p:sp>
      <p:sp>
        <p:nvSpPr>
          <p:cNvPr id="15" name="Text 13"/>
          <p:cNvSpPr/>
          <p:nvPr/>
        </p:nvSpPr>
        <p:spPr>
          <a:xfrm>
            <a:off x="4572000" y="3291840"/>
            <a:ext cx="3063240" cy="59436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Job Hunt Status Board</a:t>
            </a:r>
            <a:endParaRPr lang="en-US" sz="1550" dirty="0"/>
          </a:p>
        </p:txBody>
      </p:sp>
      <p:sp>
        <p:nvSpPr>
          <p:cNvPr id="16" name="Text 14"/>
          <p:cNvSpPr/>
          <p:nvPr/>
        </p:nvSpPr>
        <p:spPr>
          <a:xfrm>
            <a:off x="4572000" y="3931920"/>
            <a:ext cx="3063240" cy="1645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A pipeline-stage view of every active application — where each one sits, from Identified through Offer.</a:t>
            </a:r>
            <a:endParaRPr lang="en-US" sz="1200" dirty="0"/>
          </a:p>
        </p:txBody>
      </p:sp>
      <p:sp>
        <p:nvSpPr>
          <p:cNvPr id="17" name="Shape 15"/>
          <p:cNvSpPr/>
          <p:nvPr/>
        </p:nvSpPr>
        <p:spPr>
          <a:xfrm>
            <a:off x="8092440" y="2971800"/>
            <a:ext cx="3611880" cy="2788920"/>
          </a:xfrm>
          <a:prstGeom prst="rect">
            <a:avLst/>
          </a:prstGeom>
          <a:solidFill>
            <a:srgbClr val="151B47"/>
          </a:solidFill>
          <a:ln/>
        </p:spPr>
      </p:sp>
      <p:sp>
        <p:nvSpPr>
          <p:cNvPr id="18" name="Shape 16"/>
          <p:cNvSpPr/>
          <p:nvPr/>
        </p:nvSpPr>
        <p:spPr>
          <a:xfrm>
            <a:off x="8092440" y="2971800"/>
            <a:ext cx="3611880" cy="91440"/>
          </a:xfrm>
          <a:prstGeom prst="rect">
            <a:avLst/>
          </a:prstGeom>
          <a:solidFill>
            <a:srgbClr val="C77B12"/>
          </a:solidFill>
          <a:ln/>
        </p:spPr>
      </p:sp>
      <p:sp>
        <p:nvSpPr>
          <p:cNvPr id="19" name="Text 17"/>
          <p:cNvSpPr/>
          <p:nvPr/>
        </p:nvSpPr>
        <p:spPr>
          <a:xfrm>
            <a:off x="8366760" y="3291840"/>
            <a:ext cx="3063240" cy="59436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Job Hunt Gmail Activity</a:t>
            </a:r>
            <a:endParaRPr lang="en-US" sz="1550" dirty="0"/>
          </a:p>
        </p:txBody>
      </p:sp>
      <p:sp>
        <p:nvSpPr>
          <p:cNvPr id="20" name="Text 18"/>
          <p:cNvSpPr/>
          <p:nvPr/>
        </p:nvSpPr>
        <p:spPr>
          <a:xfrm>
            <a:off x="8366760" y="3931920"/>
            <a:ext cx="3063240" cy="1645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A feed of incoming leads pulled from Gmail scans, so nothing new slips by unnoticed.</a:t>
            </a:r>
            <a:endParaRPr lang="en-US" sz="1200" dirty="0"/>
          </a:p>
        </p:txBody>
      </p:sp>
      <p:sp>
        <p:nvSpPr>
          <p:cNvPr id="21" name="Text 19"/>
          <p:cNvSpPr/>
          <p:nvPr/>
        </p:nvSpPr>
        <p:spPr>
          <a:xfrm>
            <a:off x="548640" y="5925312"/>
            <a:ext cx="11064240" cy="457200"/>
          </a:xfrm>
          <a:prstGeom prst="rect">
            <a:avLst/>
          </a:prstGeom>
          <a:noFill/>
          <a:ln/>
        </p:spPr>
        <p:txBody>
          <a:bodyPr wrap="square" lIns="0" tIns="0" rIns="0" bIns="0" rtlCol="0" anchor="ctr"/>
          <a:lstStyle/>
          <a:p>
            <a:pPr indent="0" marL="0">
              <a:buNone/>
            </a:pPr>
            <a:r>
              <a:rPr lang="en-US" sz="1200" i="1" dirty="0">
                <a:solidFill>
                  <a:srgbClr val="6B7694"/>
                </a:solidFill>
                <a:latin typeface="Calibri" pitchFamily="34" charset="0"/>
                <a:ea typeface="Calibri" pitchFamily="34" charset="-122"/>
                <a:cs typeface="Calibri" pitchFamily="34" charset="-120"/>
              </a:rPr>
              <a:t>The spreadsheet is the record Lisa edits directly when reporting progress; the three boards refresh from it automatically — no manual updates to keep them current.</a:t>
            </a:r>
            <a:endParaRPr lang="en-US" sz="120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BUILT-IN AUTOMATION &amp; TRIGGERS</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51B47"/>
                </a:solidFill>
                <a:latin typeface="Cambria" pitchFamily="34" charset="0"/>
                <a:ea typeface="Cambria" pitchFamily="34" charset="-122"/>
                <a:cs typeface="Cambria" pitchFamily="34" charset="-120"/>
              </a:rPr>
              <a:t>Runs automatically — and on demand</a:t>
            </a:r>
            <a:endParaRPr lang="en-US" sz="3200" dirty="0"/>
          </a:p>
        </p:txBody>
      </p:sp>
      <p:sp>
        <p:nvSpPr>
          <p:cNvPr id="4" name="Shape 2"/>
          <p:cNvSpPr/>
          <p:nvPr/>
        </p:nvSpPr>
        <p:spPr>
          <a:xfrm>
            <a:off x="548640" y="1645920"/>
            <a:ext cx="3474720" cy="3017520"/>
          </a:xfrm>
          <a:prstGeom prst="rect">
            <a:avLst/>
          </a:prstGeom>
          <a:solidFill>
            <a:srgbClr val="F4F6FB"/>
          </a:solidFill>
          <a:ln/>
        </p:spPr>
      </p:sp>
      <p:sp>
        <p:nvSpPr>
          <p:cNvPr id="5" name="Shape 3"/>
          <p:cNvSpPr/>
          <p:nvPr/>
        </p:nvSpPr>
        <p:spPr>
          <a:xfrm>
            <a:off x="548640" y="1645920"/>
            <a:ext cx="3474720" cy="91440"/>
          </a:xfrm>
          <a:prstGeom prst="rect">
            <a:avLst/>
          </a:prstGeom>
          <a:solidFill>
            <a:srgbClr val="1E2761"/>
          </a:solidFill>
          <a:ln/>
        </p:spPr>
      </p:sp>
      <p:sp>
        <p:nvSpPr>
          <p:cNvPr id="6" name="Text 4"/>
          <p:cNvSpPr/>
          <p:nvPr/>
        </p:nvSpPr>
        <p:spPr>
          <a:xfrm>
            <a:off x="777240" y="1828800"/>
            <a:ext cx="3017520" cy="256032"/>
          </a:xfrm>
          <a:prstGeom prst="rect">
            <a:avLst/>
          </a:prstGeom>
          <a:noFill/>
          <a:ln/>
        </p:spPr>
        <p:txBody>
          <a:bodyPr wrap="square" lIns="0" tIns="0" rIns="0" bIns="0" rtlCol="0" anchor="ctr"/>
          <a:lstStyle/>
          <a:p>
            <a:pPr indent="0" marL="0">
              <a:buNone/>
            </a:pPr>
            <a:r>
              <a:rPr lang="en-US" sz="850" b="1" dirty="0">
                <a:solidFill>
                  <a:srgbClr val="1E2761"/>
                </a:solidFill>
                <a:latin typeface="Calibri" pitchFamily="34" charset="0"/>
                <a:ea typeface="Calibri" pitchFamily="34" charset="-122"/>
                <a:cs typeface="Calibri" pitchFamily="34" charset="-120"/>
              </a:rPr>
              <a:t>SCHEDULED</a:t>
            </a:r>
            <a:endParaRPr lang="en-US" sz="850" dirty="0"/>
          </a:p>
        </p:txBody>
      </p:sp>
      <p:sp>
        <p:nvSpPr>
          <p:cNvPr id="7" name="Shape 5"/>
          <p:cNvSpPr/>
          <p:nvPr/>
        </p:nvSpPr>
        <p:spPr>
          <a:xfrm>
            <a:off x="777240" y="2194560"/>
            <a:ext cx="411480" cy="411480"/>
          </a:xfrm>
          <a:prstGeom prst="ellipse">
            <a:avLst/>
          </a:prstGeom>
          <a:solidFill>
            <a:srgbClr val="1E2761"/>
          </a:solidFill>
          <a:ln/>
        </p:spPr>
      </p:sp>
      <p:sp>
        <p:nvSpPr>
          <p:cNvPr id="8" name="Text 6"/>
          <p:cNvSpPr/>
          <p:nvPr/>
        </p:nvSpPr>
        <p:spPr>
          <a:xfrm>
            <a:off x="777240" y="21945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p:nvPr/>
        </p:nvSpPr>
        <p:spPr>
          <a:xfrm>
            <a:off x="1325880" y="2148840"/>
            <a:ext cx="2514600" cy="548640"/>
          </a:xfrm>
          <a:prstGeom prst="rect">
            <a:avLst/>
          </a:prstGeom>
          <a:noFill/>
          <a:ln/>
        </p:spPr>
        <p:txBody>
          <a:bodyPr wrap="square" lIns="0" tIns="0" rIns="0" bIns="0" rtlCol="0" anchor="ctr"/>
          <a:lstStyle/>
          <a:p>
            <a:pPr indent="0" marL="0">
              <a:buNone/>
            </a:pPr>
            <a:r>
              <a:rPr lang="en-US" sz="1400" b="1" dirty="0">
                <a:solidFill>
                  <a:srgbClr val="151B47"/>
                </a:solidFill>
                <a:latin typeface="Calibri" pitchFamily="34" charset="0"/>
                <a:ea typeface="Calibri" pitchFamily="34" charset="-122"/>
                <a:cs typeface="Calibri" pitchFamily="34" charset="-120"/>
              </a:rPr>
              <a:t>Daily Job Scan</a:t>
            </a:r>
            <a:endParaRPr lang="en-US" sz="1400" dirty="0"/>
          </a:p>
        </p:txBody>
      </p:sp>
      <p:sp>
        <p:nvSpPr>
          <p:cNvPr id="10" name="Text 8"/>
          <p:cNvSpPr/>
          <p:nvPr/>
        </p:nvSpPr>
        <p:spPr>
          <a:xfrm>
            <a:off x="777240" y="2816352"/>
            <a:ext cx="3017520" cy="1664208"/>
          </a:xfrm>
          <a:prstGeom prst="rect">
            <a:avLst/>
          </a:prstGeom>
          <a:noFill/>
          <a:ln/>
        </p:spPr>
        <p:txBody>
          <a:bodyPr wrap="square" lIns="0" tIns="0" rIns="0" bIns="0" rtlCol="0" anchor="t"/>
          <a:lstStyle/>
          <a:p>
            <a:pPr indent="0" marL="0">
              <a:buNone/>
            </a:pPr>
            <a:r>
              <a:rPr lang="en-US" sz="1150" dirty="0">
                <a:solidFill>
                  <a:srgbClr val="44506B"/>
                </a:solidFill>
                <a:latin typeface="Calibri" pitchFamily="34" charset="0"/>
                <a:ea typeface="Calibri" pitchFamily="34" charset="-122"/>
                <a:cs typeface="Calibri" pitchFamily="34" charset="-120"/>
              </a:rPr>
              <a:t>Runs every morning. Five saved searches surface new Principal/Director/Senior TPM leads plus internal postings. Roles scoring 4.0+ flow straight into the full pipeline; Senior roles only proceed if listed salary clears the threshold.</a:t>
            </a:r>
            <a:endParaRPr lang="en-US" sz="1150" dirty="0"/>
          </a:p>
        </p:txBody>
      </p:sp>
      <p:sp>
        <p:nvSpPr>
          <p:cNvPr id="11" name="Shape 9"/>
          <p:cNvSpPr/>
          <p:nvPr/>
        </p:nvSpPr>
        <p:spPr>
          <a:xfrm>
            <a:off x="4343400" y="1645920"/>
            <a:ext cx="3474720" cy="3017520"/>
          </a:xfrm>
          <a:prstGeom prst="rect">
            <a:avLst/>
          </a:prstGeom>
          <a:solidFill>
            <a:srgbClr val="F4F6FB"/>
          </a:solidFill>
          <a:ln/>
        </p:spPr>
      </p:sp>
      <p:sp>
        <p:nvSpPr>
          <p:cNvPr id="12" name="Shape 10"/>
          <p:cNvSpPr/>
          <p:nvPr/>
        </p:nvSpPr>
        <p:spPr>
          <a:xfrm>
            <a:off x="4343400" y="1645920"/>
            <a:ext cx="3474720" cy="91440"/>
          </a:xfrm>
          <a:prstGeom prst="rect">
            <a:avLst/>
          </a:prstGeom>
          <a:solidFill>
            <a:srgbClr val="1E2761"/>
          </a:solidFill>
          <a:ln/>
        </p:spPr>
      </p:sp>
      <p:sp>
        <p:nvSpPr>
          <p:cNvPr id="13" name="Text 11"/>
          <p:cNvSpPr/>
          <p:nvPr/>
        </p:nvSpPr>
        <p:spPr>
          <a:xfrm>
            <a:off x="4572000" y="1828800"/>
            <a:ext cx="3017520" cy="256032"/>
          </a:xfrm>
          <a:prstGeom prst="rect">
            <a:avLst/>
          </a:prstGeom>
          <a:noFill/>
          <a:ln/>
        </p:spPr>
        <p:txBody>
          <a:bodyPr wrap="square" lIns="0" tIns="0" rIns="0" bIns="0" rtlCol="0" anchor="ctr"/>
          <a:lstStyle/>
          <a:p>
            <a:pPr indent="0" marL="0">
              <a:buNone/>
            </a:pPr>
            <a:r>
              <a:rPr lang="en-US" sz="850" b="1" dirty="0">
                <a:solidFill>
                  <a:srgbClr val="1E2761"/>
                </a:solidFill>
                <a:latin typeface="Calibri" pitchFamily="34" charset="0"/>
                <a:ea typeface="Calibri" pitchFamily="34" charset="-122"/>
                <a:cs typeface="Calibri" pitchFamily="34" charset="-120"/>
              </a:rPr>
              <a:t>SCHEDULED</a:t>
            </a:r>
            <a:endParaRPr lang="en-US" sz="850" dirty="0"/>
          </a:p>
        </p:txBody>
      </p:sp>
      <p:sp>
        <p:nvSpPr>
          <p:cNvPr id="14" name="Shape 12"/>
          <p:cNvSpPr/>
          <p:nvPr/>
        </p:nvSpPr>
        <p:spPr>
          <a:xfrm>
            <a:off x="4572000" y="2194560"/>
            <a:ext cx="411480" cy="411480"/>
          </a:xfrm>
          <a:prstGeom prst="ellipse">
            <a:avLst/>
          </a:prstGeom>
          <a:solidFill>
            <a:srgbClr val="1E2761"/>
          </a:solidFill>
          <a:ln/>
        </p:spPr>
      </p:sp>
      <p:sp>
        <p:nvSpPr>
          <p:cNvPr id="15" name="Text 13"/>
          <p:cNvSpPr/>
          <p:nvPr/>
        </p:nvSpPr>
        <p:spPr>
          <a:xfrm>
            <a:off x="4572000" y="21945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6" name="Text 14"/>
          <p:cNvSpPr/>
          <p:nvPr/>
        </p:nvSpPr>
        <p:spPr>
          <a:xfrm>
            <a:off x="5120640" y="2148840"/>
            <a:ext cx="2514600" cy="548640"/>
          </a:xfrm>
          <a:prstGeom prst="rect">
            <a:avLst/>
          </a:prstGeom>
          <a:noFill/>
          <a:ln/>
        </p:spPr>
        <p:txBody>
          <a:bodyPr wrap="square" lIns="0" tIns="0" rIns="0" bIns="0" rtlCol="0" anchor="ctr"/>
          <a:lstStyle/>
          <a:p>
            <a:pPr indent="0" marL="0">
              <a:buNone/>
            </a:pPr>
            <a:r>
              <a:rPr lang="en-US" sz="1400" b="1" dirty="0">
                <a:solidFill>
                  <a:srgbClr val="151B47"/>
                </a:solidFill>
                <a:latin typeface="Calibri" pitchFamily="34" charset="0"/>
                <a:ea typeface="Calibri" pitchFamily="34" charset="-122"/>
                <a:cs typeface="Calibri" pitchFamily="34" charset="-120"/>
              </a:rPr>
              <a:t>Stale Application Check</a:t>
            </a:r>
            <a:endParaRPr lang="en-US" sz="1400" dirty="0"/>
          </a:p>
        </p:txBody>
      </p:sp>
      <p:sp>
        <p:nvSpPr>
          <p:cNvPr id="17" name="Text 15"/>
          <p:cNvSpPr/>
          <p:nvPr/>
        </p:nvSpPr>
        <p:spPr>
          <a:xfrm>
            <a:off x="4572000" y="2816352"/>
            <a:ext cx="3017520" cy="1664208"/>
          </a:xfrm>
          <a:prstGeom prst="rect">
            <a:avLst/>
          </a:prstGeom>
          <a:noFill/>
          <a:ln/>
        </p:spPr>
        <p:txBody>
          <a:bodyPr wrap="square" lIns="0" tIns="0" rIns="0" bIns="0" rtlCol="0" anchor="t"/>
          <a:lstStyle/>
          <a:p>
            <a:pPr indent="0" marL="0">
              <a:buNone/>
            </a:pPr>
            <a:r>
              <a:rPr lang="en-US" sz="1150" dirty="0">
                <a:solidFill>
                  <a:srgbClr val="44506B"/>
                </a:solidFill>
                <a:latin typeface="Calibri" pitchFamily="34" charset="0"/>
                <a:ea typeface="Calibri" pitchFamily="34" charset="-122"/>
                <a:cs typeface="Calibri" pitchFamily="34" charset="-120"/>
              </a:rPr>
              <a:t>Runs weekly. Scans the tracker for any application stuck at "Applied" for 14+ days and surfaces a follow-up reminder — so nothing goes cold without being noticed.</a:t>
            </a:r>
            <a:endParaRPr lang="en-US" sz="1150" dirty="0"/>
          </a:p>
        </p:txBody>
      </p:sp>
      <p:sp>
        <p:nvSpPr>
          <p:cNvPr id="18" name="Shape 16"/>
          <p:cNvSpPr/>
          <p:nvPr/>
        </p:nvSpPr>
        <p:spPr>
          <a:xfrm>
            <a:off x="8138160" y="1645920"/>
            <a:ext cx="3474720" cy="3017520"/>
          </a:xfrm>
          <a:prstGeom prst="rect">
            <a:avLst/>
          </a:prstGeom>
          <a:solidFill>
            <a:srgbClr val="F4F6FB"/>
          </a:solidFill>
          <a:ln/>
        </p:spPr>
      </p:sp>
      <p:sp>
        <p:nvSpPr>
          <p:cNvPr id="19" name="Shape 17"/>
          <p:cNvSpPr/>
          <p:nvPr/>
        </p:nvSpPr>
        <p:spPr>
          <a:xfrm>
            <a:off x="8138160" y="1645920"/>
            <a:ext cx="3474720" cy="91440"/>
          </a:xfrm>
          <a:prstGeom prst="rect">
            <a:avLst/>
          </a:prstGeom>
          <a:solidFill>
            <a:srgbClr val="C77B12"/>
          </a:solidFill>
          <a:ln/>
        </p:spPr>
      </p:sp>
      <p:sp>
        <p:nvSpPr>
          <p:cNvPr id="20" name="Text 18"/>
          <p:cNvSpPr/>
          <p:nvPr/>
        </p:nvSpPr>
        <p:spPr>
          <a:xfrm>
            <a:off x="8366760" y="1828800"/>
            <a:ext cx="3017520" cy="256032"/>
          </a:xfrm>
          <a:prstGeom prst="rect">
            <a:avLst/>
          </a:prstGeom>
          <a:noFill/>
          <a:ln/>
        </p:spPr>
        <p:txBody>
          <a:bodyPr wrap="square" lIns="0" tIns="0" rIns="0" bIns="0" rtlCol="0" anchor="ctr"/>
          <a:lstStyle/>
          <a:p>
            <a:pPr indent="0" marL="0">
              <a:buNone/>
            </a:pPr>
            <a:r>
              <a:rPr lang="en-US" sz="850" b="1" dirty="0">
                <a:solidFill>
                  <a:srgbClr val="C77B12"/>
                </a:solidFill>
                <a:latin typeface="Calibri" pitchFamily="34" charset="0"/>
                <a:ea typeface="Calibri" pitchFamily="34" charset="-122"/>
                <a:cs typeface="Calibri" pitchFamily="34" charset="-120"/>
              </a:rPr>
              <a:t>AD-HOC</a:t>
            </a:r>
            <a:endParaRPr lang="en-US" sz="850" dirty="0"/>
          </a:p>
        </p:txBody>
      </p:sp>
      <p:sp>
        <p:nvSpPr>
          <p:cNvPr id="21" name="Shape 19"/>
          <p:cNvSpPr/>
          <p:nvPr/>
        </p:nvSpPr>
        <p:spPr>
          <a:xfrm>
            <a:off x="8366760" y="2194560"/>
            <a:ext cx="411480" cy="411480"/>
          </a:xfrm>
          <a:prstGeom prst="ellipse">
            <a:avLst/>
          </a:prstGeom>
          <a:solidFill>
            <a:srgbClr val="C77B12"/>
          </a:solidFill>
          <a:ln/>
        </p:spPr>
      </p:sp>
      <p:sp>
        <p:nvSpPr>
          <p:cNvPr id="22" name="Text 20"/>
          <p:cNvSpPr/>
          <p:nvPr/>
        </p:nvSpPr>
        <p:spPr>
          <a:xfrm>
            <a:off x="8366760" y="21945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3" name="Text 21"/>
          <p:cNvSpPr/>
          <p:nvPr/>
        </p:nvSpPr>
        <p:spPr>
          <a:xfrm>
            <a:off x="8915400" y="2148840"/>
            <a:ext cx="2514600" cy="548640"/>
          </a:xfrm>
          <a:prstGeom prst="rect">
            <a:avLst/>
          </a:prstGeom>
          <a:noFill/>
          <a:ln/>
        </p:spPr>
        <p:txBody>
          <a:bodyPr wrap="square" lIns="0" tIns="0" rIns="0" bIns="0" rtlCol="0" anchor="ctr"/>
          <a:lstStyle/>
          <a:p>
            <a:pPr indent="0" marL="0">
              <a:buNone/>
            </a:pPr>
            <a:r>
              <a:rPr lang="en-US" sz="1400" b="1" dirty="0">
                <a:solidFill>
                  <a:srgbClr val="151B47"/>
                </a:solidFill>
                <a:latin typeface="Calibri" pitchFamily="34" charset="0"/>
                <a:ea typeface="Calibri" pitchFamily="34" charset="-122"/>
                <a:cs typeface="Calibri" pitchFamily="34" charset="-120"/>
              </a:rPr>
              <a:t>Lisa shares a lead</a:t>
            </a:r>
            <a:endParaRPr lang="en-US" sz="1400" dirty="0"/>
          </a:p>
        </p:txBody>
      </p:sp>
      <p:sp>
        <p:nvSpPr>
          <p:cNvPr id="24" name="Text 22"/>
          <p:cNvSpPr/>
          <p:nvPr/>
        </p:nvSpPr>
        <p:spPr>
          <a:xfrm>
            <a:off x="8366760" y="2816352"/>
            <a:ext cx="3017520" cy="1664208"/>
          </a:xfrm>
          <a:prstGeom prst="rect">
            <a:avLst/>
          </a:prstGeom>
          <a:noFill/>
          <a:ln/>
        </p:spPr>
        <p:txBody>
          <a:bodyPr wrap="square" lIns="0" tIns="0" rIns="0" bIns="0" rtlCol="0" anchor="t"/>
          <a:lstStyle/>
          <a:p>
            <a:pPr indent="0" marL="0">
              <a:buNone/>
            </a:pPr>
            <a:r>
              <a:rPr lang="en-US" sz="1150" dirty="0">
                <a:solidFill>
                  <a:srgbClr val="44506B"/>
                </a:solidFill>
                <a:latin typeface="Calibri" pitchFamily="34" charset="0"/>
                <a:ea typeface="Calibri" pitchFamily="34" charset="-122"/>
                <a:cs typeface="Calibri" pitchFamily="34" charset="-120"/>
              </a:rPr>
              <a:t>Fires any time Lisa pastes a job description, shares a URL, or forwards an email. Runs the exact same end-to-end pipeline immediately: score, source the JD, tailor, file, and sync. No need to wait for the next morning scan.</a:t>
            </a:r>
            <a:endParaRPr lang="en-US" sz="1150" dirty="0"/>
          </a:p>
        </p:txBody>
      </p:sp>
      <p:sp>
        <p:nvSpPr>
          <p:cNvPr id="25" name="Text 23"/>
          <p:cNvSpPr/>
          <p:nvPr/>
        </p:nvSpPr>
        <p:spPr>
          <a:xfrm>
            <a:off x="548640" y="4892040"/>
            <a:ext cx="11064240" cy="457200"/>
          </a:xfrm>
          <a:prstGeom prst="rect">
            <a:avLst/>
          </a:prstGeom>
          <a:noFill/>
          <a:ln/>
        </p:spPr>
        <p:txBody>
          <a:bodyPr wrap="square" lIns="0" tIns="0" rIns="0" bIns="0" rtlCol="0" anchor="ctr"/>
          <a:lstStyle/>
          <a:p>
            <a:pPr indent="0" marL="0">
              <a:buNone/>
            </a:pPr>
            <a:r>
              <a:rPr lang="en-US" sz="1150" i="1" dirty="0">
                <a:solidFill>
                  <a:srgbClr val="6B7694"/>
                </a:solidFill>
                <a:latin typeface="Calibri" pitchFamily="34" charset="0"/>
                <a:ea typeface="Calibri" pitchFamily="34" charset="-122"/>
                <a:cs typeface="Calibri" pitchFamily="34" charset="-120"/>
              </a:rPr>
              <a:t>Internal leads from the daily scan are filed and tracked the same way as external roles — resume and introductory email generate automatically too, no separate request needed.</a:t>
            </a:r>
            <a:endParaRPr lang="en-US" sz="1150" dirty="0"/>
          </a:p>
        </p:txBody>
      </p:sp>
      <p:sp>
        <p:nvSpPr>
          <p:cNvPr id="26" name="Text 24"/>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B4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rPr>
              <a:t>RESULTS SO FAR</a:t>
            </a:r>
            <a:endParaRPr lang="en-US" sz="12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at work</a:t>
            </a:r>
            <a:endParaRPr lang="en-US" sz="3200" dirty="0"/>
          </a:p>
        </p:txBody>
      </p:sp>
      <p:sp>
        <p:nvSpPr>
          <p:cNvPr id="4" name="Shape 2"/>
          <p:cNvSpPr/>
          <p:nvPr/>
        </p:nvSpPr>
        <p:spPr>
          <a:xfrm>
            <a:off x="640080" y="1737360"/>
            <a:ext cx="3474720" cy="1463040"/>
          </a:xfrm>
          <a:prstGeom prst="rect">
            <a:avLst/>
          </a:prstGeom>
          <a:solidFill>
            <a:srgbClr val="1E2761"/>
          </a:solidFill>
          <a:ln/>
        </p:spPr>
      </p:sp>
      <p:sp>
        <p:nvSpPr>
          <p:cNvPr id="5" name="Text 3"/>
          <p:cNvSpPr/>
          <p:nvPr/>
        </p:nvSpPr>
        <p:spPr>
          <a:xfrm>
            <a:off x="640080" y="1828800"/>
            <a:ext cx="347472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19</a:t>
            </a:r>
            <a:endParaRPr lang="en-US" sz="3800" dirty="0"/>
          </a:p>
        </p:txBody>
      </p:sp>
      <p:sp>
        <p:nvSpPr>
          <p:cNvPr id="6" name="Text 4"/>
          <p:cNvSpPr/>
          <p:nvPr/>
        </p:nvSpPr>
        <p:spPr>
          <a:xfrm>
            <a:off x="640080" y="2606040"/>
            <a:ext cx="3474720"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roles tracked</a:t>
            </a:r>
            <a:endParaRPr lang="en-US" sz="1300" dirty="0"/>
          </a:p>
        </p:txBody>
      </p:sp>
      <p:sp>
        <p:nvSpPr>
          <p:cNvPr id="7" name="Shape 5"/>
          <p:cNvSpPr/>
          <p:nvPr/>
        </p:nvSpPr>
        <p:spPr>
          <a:xfrm>
            <a:off x="4434840" y="1737360"/>
            <a:ext cx="3474720" cy="1463040"/>
          </a:xfrm>
          <a:prstGeom prst="rect">
            <a:avLst/>
          </a:prstGeom>
          <a:solidFill>
            <a:srgbClr val="1E2761"/>
          </a:solidFill>
          <a:ln/>
        </p:spPr>
      </p:sp>
      <p:sp>
        <p:nvSpPr>
          <p:cNvPr id="8" name="Text 6"/>
          <p:cNvSpPr/>
          <p:nvPr/>
        </p:nvSpPr>
        <p:spPr>
          <a:xfrm>
            <a:off x="4434840" y="1828800"/>
            <a:ext cx="347472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5</a:t>
            </a:r>
            <a:endParaRPr lang="en-US" sz="3800" dirty="0"/>
          </a:p>
        </p:txBody>
      </p:sp>
      <p:sp>
        <p:nvSpPr>
          <p:cNvPr id="9" name="Text 7"/>
          <p:cNvSpPr/>
          <p:nvPr/>
        </p:nvSpPr>
        <p:spPr>
          <a:xfrm>
            <a:off x="4434840" y="2606040"/>
            <a:ext cx="3474720"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companies engaged</a:t>
            </a:r>
            <a:endParaRPr lang="en-US" sz="1300" dirty="0"/>
          </a:p>
        </p:txBody>
      </p:sp>
      <p:sp>
        <p:nvSpPr>
          <p:cNvPr id="10" name="Shape 8"/>
          <p:cNvSpPr/>
          <p:nvPr/>
        </p:nvSpPr>
        <p:spPr>
          <a:xfrm>
            <a:off x="8229600" y="1737360"/>
            <a:ext cx="3474720" cy="1463040"/>
          </a:xfrm>
          <a:prstGeom prst="rect">
            <a:avLst/>
          </a:prstGeom>
          <a:solidFill>
            <a:srgbClr val="1E2761"/>
          </a:solidFill>
          <a:ln/>
        </p:spPr>
      </p:sp>
      <p:sp>
        <p:nvSpPr>
          <p:cNvPr id="11" name="Text 9"/>
          <p:cNvSpPr/>
          <p:nvPr/>
        </p:nvSpPr>
        <p:spPr>
          <a:xfrm>
            <a:off x="8229600" y="1828800"/>
            <a:ext cx="347472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10 / 9</a:t>
            </a:r>
            <a:endParaRPr lang="en-US" sz="3800" dirty="0"/>
          </a:p>
        </p:txBody>
      </p:sp>
      <p:sp>
        <p:nvSpPr>
          <p:cNvPr id="12" name="Text 10"/>
          <p:cNvSpPr/>
          <p:nvPr/>
        </p:nvSpPr>
        <p:spPr>
          <a:xfrm>
            <a:off x="8229600" y="2606040"/>
            <a:ext cx="3474720"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external / internal</a:t>
            </a:r>
            <a:endParaRPr lang="en-US" sz="1300" dirty="0"/>
          </a:p>
        </p:txBody>
      </p:sp>
      <p:graphicFrame>
        <p:nvGraphicFramePr>
          <p:cNvPr id="13" name="Chart 0" descr=""/>
          <p:cNvGraphicFramePr/>
          <p:nvPr/>
        </p:nvGraphicFramePr>
        <p:xfrm>
          <a:off x="640080" y="352044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6492240" y="3840480"/>
            <a:ext cx="5120640" cy="1828800"/>
          </a:xfrm>
          <a:prstGeom prst="rect">
            <a:avLst/>
          </a:prstGeom>
          <a:noFill/>
          <a:ln/>
        </p:spPr>
        <p:txBody>
          <a:bodyPr wrap="square" lIns="0" tIns="0" rIns="0" bIns="0" rtlCol="0" anchor="t"/>
          <a:lstStyle/>
          <a:p>
            <a:pPr indent="0" marL="0">
              <a:buNone/>
            </a:pPr>
            <a:r>
              <a:rPr lang="en-US" sz="1350" dirty="0">
                <a:solidFill>
                  <a:srgbClr val="CADCFC"/>
                </a:solidFill>
                <a:latin typeface="Calibri" pitchFamily="34" charset="0"/>
                <a:ea typeface="Calibri" pitchFamily="34" charset="-122"/>
                <a:cs typeface="Calibri" pitchFamily="34" charset="-120"/>
              </a:rPr>
              <a:t>Every status shown here — Applied, Interview, even Rejected — reflects the tracker as Lisa reports real progress.</a:t>
            </a:r>
            <a:endParaRPr lang="en-US" sz="1350" dirty="0"/>
          </a:p>
        </p:txBody>
      </p:sp>
      <p:sp>
        <p:nvSpPr>
          <p:cNvPr id="15" name="Text 12"/>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B47"/>
        </a:solidFill>
      </p:bgPr>
    </p:bg>
    <p:spTree>
      <p:nvGrpSpPr>
        <p:cNvPr id="1" name=""/>
        <p:cNvGrpSpPr/>
        <p:nvPr/>
      </p:nvGrpSpPr>
      <p:grpSpPr>
        <a:xfrm>
          <a:off x="0" y="0"/>
          <a:ext cx="0" cy="0"/>
          <a:chOff x="0" y="0"/>
          <a:chExt cx="0" cy="0"/>
        </a:xfrm>
      </p:grpSpPr>
      <p:sp>
        <p:nvSpPr>
          <p:cNvPr id="2" name="Shape 0"/>
          <p:cNvSpPr/>
          <p:nvPr/>
        </p:nvSpPr>
        <p:spPr>
          <a:xfrm>
            <a:off x="-1371600" y="4389120"/>
            <a:ext cx="4572000" cy="4572000"/>
          </a:xfrm>
          <a:prstGeom prst="ellipse">
            <a:avLst/>
          </a:prstGeom>
          <a:solidFill>
            <a:srgbClr val="1E2761">
              <a:alpha val="70000"/>
            </a:srgbClr>
          </a:solidFill>
          <a:ln/>
        </p:spPr>
      </p:sp>
      <p:sp>
        <p:nvSpPr>
          <p:cNvPr id="3" name="Text 1"/>
          <p:cNvSpPr/>
          <p:nvPr/>
        </p:nvSpPr>
        <p:spPr>
          <a:xfrm>
            <a:off x="548640" y="548640"/>
            <a:ext cx="7315200" cy="320040"/>
          </a:xfrm>
          <a:prstGeom prst="rect">
            <a:avLst/>
          </a:prstGeom>
          <a:noFill/>
          <a:ln/>
        </p:spPr>
        <p:txBody>
          <a:bodyPr wrap="square" lIns="0" tIns="0" rIns="0" bIns="0" rtlCol="0" anchor="ctr"/>
          <a:lstStyle/>
          <a:p>
            <a:pPr indent="0" marL="0">
              <a:buNone/>
            </a:pPr>
            <a:r>
              <a:rPr lang="en-US" sz="1200" b="1" spc="200" kern="0" dirty="0">
                <a:solidFill>
                  <a:srgbClr val="CADCFC"/>
                </a:solidFill>
              </a:rPr>
              <a:t>WHAT'S NEXT</a:t>
            </a:r>
            <a:endParaRPr lang="en-US" sz="1200" dirty="0"/>
          </a:p>
        </p:txBody>
      </p:sp>
      <p:sp>
        <p:nvSpPr>
          <p:cNvPr id="4" name="Text 2"/>
          <p:cNvSpPr/>
          <p:nvPr/>
        </p:nvSpPr>
        <p:spPr>
          <a:xfrm>
            <a:off x="548640" y="86868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the assistant goes from here</a:t>
            </a:r>
            <a:endParaRPr lang="en-US" sz="3200" dirty="0"/>
          </a:p>
        </p:txBody>
      </p:sp>
      <p:sp>
        <p:nvSpPr>
          <p:cNvPr id="5" name="Shape 3"/>
          <p:cNvSpPr/>
          <p:nvPr/>
        </p:nvSpPr>
        <p:spPr>
          <a:xfrm>
            <a:off x="640080" y="2176272"/>
            <a:ext cx="164592" cy="164592"/>
          </a:xfrm>
          <a:prstGeom prst="ellipse">
            <a:avLst/>
          </a:prstGeom>
          <a:solidFill>
            <a:srgbClr val="CADCFC"/>
          </a:solidFill>
          <a:ln/>
        </p:spPr>
      </p:sp>
      <p:sp>
        <p:nvSpPr>
          <p:cNvPr id="6" name="Text 4"/>
          <p:cNvSpPr/>
          <p:nvPr/>
        </p:nvSpPr>
        <p:spPr>
          <a:xfrm>
            <a:off x="960120" y="2011680"/>
            <a:ext cx="8686800" cy="5486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Interview prep notes auto-created once a role reaches the interview stage</a:t>
            </a:r>
            <a:endParaRPr lang="en-US" sz="1500" dirty="0"/>
          </a:p>
        </p:txBody>
      </p:sp>
      <p:sp>
        <p:nvSpPr>
          <p:cNvPr id="7" name="Shape 5"/>
          <p:cNvSpPr/>
          <p:nvPr/>
        </p:nvSpPr>
        <p:spPr>
          <a:xfrm>
            <a:off x="640080" y="2770632"/>
            <a:ext cx="164592" cy="164592"/>
          </a:xfrm>
          <a:prstGeom prst="ellipse">
            <a:avLst/>
          </a:prstGeom>
          <a:solidFill>
            <a:srgbClr val="CADCFC"/>
          </a:solidFill>
          <a:ln/>
        </p:spPr>
      </p:sp>
      <p:sp>
        <p:nvSpPr>
          <p:cNvPr id="8" name="Text 6"/>
          <p:cNvSpPr/>
          <p:nvPr/>
        </p:nvSpPr>
        <p:spPr>
          <a:xfrm>
            <a:off x="960120" y="2606040"/>
            <a:ext cx="8686800" cy="5486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Thank-you note drafts generated after each interview</a:t>
            </a:r>
            <a:endParaRPr lang="en-US" sz="1500" dirty="0"/>
          </a:p>
        </p:txBody>
      </p:sp>
      <p:sp>
        <p:nvSpPr>
          <p:cNvPr id="9" name="Shape 7"/>
          <p:cNvSpPr/>
          <p:nvPr/>
        </p:nvSpPr>
        <p:spPr>
          <a:xfrm>
            <a:off x="640080" y="3364992"/>
            <a:ext cx="164592" cy="164592"/>
          </a:xfrm>
          <a:prstGeom prst="ellipse">
            <a:avLst/>
          </a:prstGeom>
          <a:solidFill>
            <a:srgbClr val="CADCFC"/>
          </a:solidFill>
          <a:ln/>
        </p:spPr>
      </p:sp>
      <p:sp>
        <p:nvSpPr>
          <p:cNvPr id="10" name="Text 8"/>
          <p:cNvSpPr/>
          <p:nvPr/>
        </p:nvSpPr>
        <p:spPr>
          <a:xfrm>
            <a:off x="960120" y="3200400"/>
            <a:ext cx="8686800" cy="5486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Expand scoring rules as new target companies and roles get added</a:t>
            </a:r>
            <a:endParaRPr lang="en-US" sz="1500" dirty="0"/>
          </a:p>
        </p:txBody>
      </p:sp>
      <p:sp>
        <p:nvSpPr>
          <p:cNvPr id="11" name="Text 9"/>
          <p:cNvSpPr/>
          <p:nvPr/>
        </p:nvSpPr>
        <p:spPr>
          <a:xfrm>
            <a:off x="548640" y="49377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2" name="Text 10"/>
          <p:cNvSpPr/>
          <p:nvPr/>
        </p:nvSpPr>
        <p:spPr>
          <a:xfrm>
            <a:off x="548640" y="5577840"/>
            <a:ext cx="82296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Resume Tailoring Assistant — built and maintained in collaboration with Claude</a:t>
            </a:r>
            <a:endParaRPr lang="en-US" sz="1300" dirty="0"/>
          </a:p>
        </p:txBody>
      </p:sp>
      <p:sp>
        <p:nvSpPr>
          <p:cNvPr id="13" name="Text 11"/>
          <p:cNvSpPr/>
          <p:nvPr/>
        </p:nvSpPr>
        <p:spPr>
          <a:xfrm>
            <a:off x="11338560" y="6355080"/>
            <a:ext cx="457200" cy="274320"/>
          </a:xfrm>
          <a:prstGeom prst="rect">
            <a:avLst/>
          </a:prstGeom>
          <a:noFill/>
          <a:ln/>
        </p:spPr>
        <p:txBody>
          <a:bodyPr wrap="square" lIns="0" tIns="0" rIns="0" bIns="0" rtlCol="0" anchor="ctr"/>
          <a:lstStyle/>
          <a:p>
            <a:pPr algn="r" indent="0" marL="0">
              <a:buNone/>
            </a:pPr>
            <a:r>
              <a:rPr lang="en-US" sz="1000" dirty="0">
                <a:solidFill>
                  <a:srgbClr val="6B7694"/>
                </a:solidFill>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Tailoring Assistant</dc:title>
  <dc:subject>PptxGenJS Presentation</dc:subject>
  <dc:creator>Lisa Martin</dc:creator>
  <cp:lastModifiedBy>Lisa Martin</cp:lastModifiedBy>
  <cp:revision>1</cp:revision>
  <dcterms:created xsi:type="dcterms:W3CDTF">2026-07-18T03:33:36Z</dcterms:created>
  <dcterms:modified xsi:type="dcterms:W3CDTF">2026-07-18T03:33:36Z</dcterms:modified>
</cp:coreProperties>
</file>